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3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99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A11FDB-5806-7005-682A-E6EA1F2561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DDF8F0-EEA4-6770-6399-BA0FFF1DA8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8C8D03-737F-2017-786B-4A4923D88B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D85901-F0CE-42D8-A8F6-D93BE25B9571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8EE42E-53CC-322B-8566-A51854FC1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0868E4-79FD-8B61-1598-548E665041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7A5AD3-3E8C-4171-A0A6-42336EA52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3014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C8881-079B-9F9C-4C4F-2741EC015A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4131E9-5040-8869-7A49-FF1FF4CC2E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9A7AA3-AECB-FCEE-4482-627679A0A6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D85901-F0CE-42D8-A8F6-D93BE25B9571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B8B75C-C3F6-5947-5E50-83F014A463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CDC0B7-BB26-84D8-D9A7-7C5348E57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7A5AD3-3E8C-4171-A0A6-42336EA52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2217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F379B-5D36-2CD8-1D40-EF25F67084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47042B-3DEE-436F-AC45-3FAA94BF0F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D8ADCB-FCB7-75A1-C5CC-21C44BF9B4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D85901-F0CE-42D8-A8F6-D93BE25B9571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E76A53-38C0-E6EB-BAD6-0E04AC252A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6F9A3B-EA47-381C-7703-F8301B566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7A5AD3-3E8C-4171-A0A6-42336EA52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994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2294B-2760-06F1-48B4-457E5E2FBD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A76DCF-0D2E-A476-CA45-0313541452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8E4774-292C-6261-AD3E-03D35BC0EB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9133CA-76F1-7464-172A-8F18411AA4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D85901-F0CE-42D8-A8F6-D93BE25B9571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FEA994-1C0F-72F8-FF5F-355F2B25DD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CD1D2E-A23A-685B-EC33-B6DBAF3751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7A5AD3-3E8C-4171-A0A6-42336EA52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53827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21D39A-138F-D552-2651-8AE32DE699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566588-D876-D8D0-3252-F4E659A6E5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488785-A6EE-EF6A-3864-5D41AA2368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50E5D7A-4174-A722-1720-FCC9DD13C6B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CA521C1-3FBE-510E-E300-65298FFD2FB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12033E6-207A-ADC1-5B66-DAA12A67E0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D85901-F0CE-42D8-A8F6-D93BE25B9571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9362821-62E2-9504-A140-C3C405F410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315BCBB-8F9E-92BA-E907-0CE3044C2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7A5AD3-3E8C-4171-A0A6-42336EA52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30848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583D4-B789-480D-4F74-EDD4CAA507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A865E5-31BA-306E-66BA-41EE7396E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D85901-F0CE-42D8-A8F6-D93BE25B9571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4C1AE1-088B-0059-2C53-3FC11375FA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8A6740-8E02-5B3F-D35C-1B229C3E5C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7A5AD3-3E8C-4171-A0A6-42336EA52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980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0639388-41E0-F7F3-DB0E-54EDCBA123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D85901-F0CE-42D8-A8F6-D93BE25B9571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88E6DE8-01E6-8F1F-1D75-4EFB0ED45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3D02D1-F387-C218-523F-C8B88DB278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7A5AD3-3E8C-4171-A0A6-42336EA52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671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AEC6D-6EC0-54FF-CD54-3B95AE8A7D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8A2539-A042-55E6-9E41-DA4D536FD4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936E13-C9C8-1BF8-1190-D489C97EA1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550DC2-9E89-CE3C-6A4B-E262CA9A73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D85901-F0CE-42D8-A8F6-D93BE25B9571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7CB19E-3A9C-C404-47DA-A21C6CC256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2A327A-B534-AE78-1DFF-70D5FB88DF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7A5AD3-3E8C-4171-A0A6-42336EA52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16104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175D1-B0F7-9E00-81BD-9937B40DC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AE4A4B4-D8E4-9F93-1359-7455C28930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589FA6-1C96-FD6B-6296-8E2BA40B83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088401-3266-3F67-20FE-5098AE5389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D85901-F0CE-42D8-A8F6-D93BE25B9571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D996F3-6E71-9BCE-C90E-A64685AC3E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CF5EE2-A084-EE98-08C6-859BB49D1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7A5AD3-3E8C-4171-A0A6-42336EA52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5422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C0F14E-0982-5A0C-4553-9F2ACCD7B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588618B-F08D-173D-29CA-D3780FB64A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1DD2AD-5366-78E3-A814-67D69B5783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D85901-F0CE-42D8-A8F6-D93BE25B9571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835F58-BE93-19B4-2810-286ED591F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E087D8-1C2C-7C46-9A41-BEDE026C7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7A5AD3-3E8C-4171-A0A6-42336EA52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603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C6C240B-596E-D2C5-FBED-7F1D84D822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964C6E7-EF7E-1444-0EB3-25DD2F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B3D9D6-E59C-A483-7EE2-BAFBF51AB8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D85901-F0CE-42D8-A8F6-D93BE25B9571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EA83DA-C369-E4FB-6AAB-03419652B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BFBE40-10F0-A374-7F88-EDD2627A9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7A5AD3-3E8C-4171-A0A6-42336EA52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09344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5BE46A-94C8-7271-A639-B613310330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5AE789-ABAF-AA45-CECF-086610A862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7183BE-A5F4-5D9E-93E3-DD222213969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D85901-F0CE-42D8-A8F6-D93BE25B9571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12B3C9-B5C3-DC93-A332-2167F8F49F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6A4931-5E67-67A8-F6A5-851AB84BA8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7A5AD3-3E8C-4171-A0A6-42336EA52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5039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0141C8-A910-5491-089E-47B384A2D96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Project 1</a:t>
            </a:r>
            <a:br>
              <a:rPr lang="en-US" dirty="0"/>
            </a:br>
            <a:r>
              <a:rPr lang="en-US" dirty="0"/>
              <a:t>Secondary Analysis of the Multicenter AIDS Cohort Study (MACS)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4EEF605-AFCC-B057-E67A-3D502B45502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Name: Opeyemi (Yemi) Jegede</a:t>
            </a:r>
          </a:p>
          <a:p>
            <a:r>
              <a:rPr lang="en-US" dirty="0"/>
              <a:t>Date: 03/02/2026</a:t>
            </a:r>
          </a:p>
        </p:txBody>
      </p:sp>
    </p:spTree>
    <p:extLst>
      <p:ext uri="{BB962C8B-B14F-4D97-AF65-F5344CB8AC3E}">
        <p14:creationId xmlns:p14="http://schemas.microsoft.com/office/powerpoint/2010/main" val="13703812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122E1-60E6-3A9F-5CA0-484F066BB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Research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26AFF6-7570-1827-3B5B-23A5105BA3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94880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For each of the four outcome measures</a:t>
            </a:r>
          </a:p>
          <a:p>
            <a:pPr lvl="1"/>
            <a:r>
              <a:rPr lang="en-US" dirty="0"/>
              <a:t>Q1: Does the outcome at 2 years after HAART differ by hard drug use status at baseline?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Q2: Is this difference explained by adherence (to medications taken since last visit) status at year 2</a:t>
            </a:r>
          </a:p>
          <a:p>
            <a:pPr lvl="1"/>
            <a:endParaRPr lang="en-US" dirty="0"/>
          </a:p>
          <a:p>
            <a:r>
              <a:rPr lang="en-US" dirty="0"/>
              <a:t>Variables</a:t>
            </a:r>
          </a:p>
          <a:p>
            <a:pPr lvl="1"/>
            <a:r>
              <a:rPr lang="en-US" dirty="0"/>
              <a:t>Outcomes: aggregate physical QoL, mental QoL, CD4+ T-cell counts, and standardized viral load (copies/mL of blood)</a:t>
            </a:r>
          </a:p>
          <a:p>
            <a:pPr lvl="1"/>
            <a:r>
              <a:rPr lang="en-US" dirty="0"/>
              <a:t>Key predictor: baseline hard drug use status</a:t>
            </a:r>
          </a:p>
          <a:p>
            <a:pPr lvl="1"/>
            <a:r>
              <a:rPr lang="en-US" dirty="0"/>
              <a:t>Covariates: body mass index (BMI), age, race/ethnicity, education and smoking status </a:t>
            </a:r>
          </a:p>
        </p:txBody>
      </p:sp>
    </p:spTree>
    <p:extLst>
      <p:ext uri="{BB962C8B-B14F-4D97-AF65-F5344CB8AC3E}">
        <p14:creationId xmlns:p14="http://schemas.microsoft.com/office/powerpoint/2010/main" val="31056766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AE3630-0647-E090-9625-8E13DEBC9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0450C8-1B96-EA0B-E10E-F6C15CC71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C33D9C-5DDB-F9CB-A69F-324118EF0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2671"/>
            <a:ext cx="10515600" cy="4351338"/>
          </a:xfrm>
        </p:spPr>
        <p:txBody>
          <a:bodyPr>
            <a:noAutofit/>
          </a:bodyPr>
          <a:lstStyle/>
          <a:p>
            <a:r>
              <a:rPr lang="en-US" sz="1800" dirty="0"/>
              <a:t>Demographic, laboratory, and quality of life (QoL) measures on 715 unique study participants (men) for up to 8 years</a:t>
            </a:r>
          </a:p>
          <a:p>
            <a:pPr lvl="1"/>
            <a:r>
              <a:rPr lang="en-US" sz="1800" dirty="0"/>
              <a:t>Comprising 3935 observations</a:t>
            </a:r>
          </a:p>
          <a:p>
            <a:endParaRPr lang="en-US" sz="1800" dirty="0"/>
          </a:p>
          <a:p>
            <a:r>
              <a:rPr lang="en-US" sz="1800" dirty="0"/>
              <a:t>Data was limited to the baseline (unique n=715) and year 2 follow-up timepoints (unique n=506)</a:t>
            </a:r>
          </a:p>
          <a:p>
            <a:endParaRPr lang="en-US" sz="1800" dirty="0"/>
          </a:p>
          <a:p>
            <a:r>
              <a:rPr lang="en-US" sz="1800" dirty="0"/>
              <a:t>Treatment response variables include aggregate physical QoL score, mental QoL score, and CD4+ T-cell counts (cells/ml), and log10 standardized viral load (in copies/mL of blood)</a:t>
            </a:r>
          </a:p>
          <a:p>
            <a:endParaRPr lang="en-US" sz="1800" dirty="0"/>
          </a:p>
          <a:p>
            <a:r>
              <a:rPr lang="en-US" sz="1800" dirty="0"/>
              <a:t>Based on the (right) skew distribution of standardized viral load, it was log10 transformed for analysis.</a:t>
            </a:r>
          </a:p>
          <a:p>
            <a:endParaRPr lang="en-US" sz="1800" dirty="0"/>
          </a:p>
          <a:p>
            <a:r>
              <a:rPr lang="en-US" sz="1800" dirty="0"/>
              <a:t>43 of 506 observations with missing values for predictors and outcomes of interest were excluded for analysis, the remaining samples (n=463) was used for frequentist and Bayesian analysis</a:t>
            </a:r>
          </a:p>
          <a:p>
            <a:endParaRPr lang="en-US" sz="1800" dirty="0"/>
          </a:p>
          <a:p>
            <a:r>
              <a:rPr lang="en-US" sz="1800" dirty="0"/>
              <a:t>Box plots for graphical display of distribution, means/SD for location/spread, and frequency/proportion for categorical variables</a:t>
            </a:r>
          </a:p>
        </p:txBody>
      </p:sp>
    </p:spTree>
    <p:extLst>
      <p:ext uri="{BB962C8B-B14F-4D97-AF65-F5344CB8AC3E}">
        <p14:creationId xmlns:p14="http://schemas.microsoft.com/office/powerpoint/2010/main" val="1349658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6DBE6-7375-5E4C-C774-1BBE53104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5FB3EC-2EC4-A18B-0194-41DC1084B1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E7E7D7-905B-63F8-64AF-3804AFFBE8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7356"/>
            <a:ext cx="10515600" cy="5378244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Q1:Does the outcome at 2 years after HAART differ by hard drug use status at baseline?</a:t>
            </a:r>
          </a:p>
          <a:p>
            <a:pPr lvl="1"/>
            <a:r>
              <a:rPr lang="en-US" dirty="0"/>
              <a:t>Posterior mean and credible interval of the posterior distribution</a:t>
            </a:r>
          </a:p>
          <a:p>
            <a:pPr lvl="1"/>
            <a:r>
              <a:rPr lang="en-US" dirty="0"/>
              <a:t>Posterior probability of a clinically meaning effect</a:t>
            </a:r>
          </a:p>
          <a:p>
            <a:pPr lvl="1"/>
            <a:r>
              <a:rPr lang="en-US" dirty="0"/>
              <a:t>Primarily Bayesian analysis in Stan; compared to frequentist results</a:t>
            </a:r>
          </a:p>
          <a:p>
            <a:pPr lvl="2"/>
            <a:r>
              <a:rPr lang="en-US" dirty="0"/>
              <a:t>Normal likelihood, non-informative priors from N(0, 100^2), half-normal for residual variance</a:t>
            </a:r>
          </a:p>
          <a:p>
            <a:endParaRPr lang="en-US" dirty="0"/>
          </a:p>
          <a:p>
            <a:r>
              <a:rPr lang="en-US" dirty="0"/>
              <a:t>Q2: Is this difference explained by adherence (to medications taken since last visit) status at year 2?</a:t>
            </a:r>
          </a:p>
          <a:p>
            <a:pPr lvl="1"/>
            <a:r>
              <a:rPr lang="en-US" dirty="0"/>
              <a:t>Univariable, crude, and adjusted models</a:t>
            </a:r>
          </a:p>
          <a:p>
            <a:pPr lvl="1"/>
            <a:r>
              <a:rPr lang="en-US" dirty="0"/>
              <a:t>Informal test, mean (credible interval) of the difference in posterior draws for the coefficient corresponding to hard drug use between the crude and adjusted models</a:t>
            </a:r>
          </a:p>
          <a:p>
            <a:pPr lvl="1"/>
            <a:r>
              <a:rPr lang="en-US" dirty="0"/>
              <a:t>Compare against investigator-provided clinically meaning effect threshold</a:t>
            </a:r>
          </a:p>
          <a:p>
            <a:pPr lvl="1"/>
            <a:r>
              <a:rPr lang="en-US" dirty="0"/>
              <a:t>Primarily Bayesian analysis in Stan; compared to frequentist results</a:t>
            </a:r>
          </a:p>
          <a:p>
            <a:pPr lvl="2"/>
            <a:r>
              <a:rPr lang="en-US" dirty="0"/>
              <a:t>Same methods as above</a:t>
            </a:r>
          </a:p>
        </p:txBody>
      </p:sp>
    </p:spTree>
    <p:extLst>
      <p:ext uri="{BB962C8B-B14F-4D97-AF65-F5344CB8AC3E}">
        <p14:creationId xmlns:p14="http://schemas.microsoft.com/office/powerpoint/2010/main" val="39655983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AEF36-73F3-2F18-71B4-9D290A934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16EF18-29D0-5168-EB08-898762EDB3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586"/>
            <a:ext cx="10515600" cy="1325563"/>
          </a:xfrm>
        </p:spPr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4423BA-76DF-10D4-7C01-B3771BA197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04552"/>
            <a:ext cx="10515600" cy="5172411"/>
          </a:xfrm>
        </p:spPr>
        <p:txBody>
          <a:bodyPr>
            <a:normAutofit/>
          </a:bodyPr>
          <a:lstStyle/>
          <a:p>
            <a:r>
              <a:rPr lang="en-US" sz="2000" dirty="0"/>
              <a:t>Q1: Outcome by HAART Status</a:t>
            </a:r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r>
              <a:rPr lang="en-US" sz="2000" dirty="0"/>
              <a:t>Posterior probabilities</a:t>
            </a:r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10D500C-3D17-4EAA-AEA9-31441CA966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584" y="1347149"/>
            <a:ext cx="6093330" cy="365747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E322B97-9AE1-2057-1130-27F4473711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3784" y="901957"/>
            <a:ext cx="5613632" cy="527500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ECFA0D1-E3FB-D509-0492-839198554B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584" y="5347216"/>
            <a:ext cx="6021131" cy="1489198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7A820E7-240D-A5AB-F8C7-70B27F3257B2}"/>
              </a:ext>
            </a:extLst>
          </p:cNvPr>
          <p:cNvSpPr/>
          <p:nvPr/>
        </p:nvSpPr>
        <p:spPr>
          <a:xfrm>
            <a:off x="7098889" y="344129"/>
            <a:ext cx="3854245" cy="557828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Fig. 1: Treatment response by hard drug use and study period</a:t>
            </a:r>
          </a:p>
        </p:txBody>
      </p:sp>
    </p:spTree>
    <p:extLst>
      <p:ext uri="{BB962C8B-B14F-4D97-AF65-F5344CB8AC3E}">
        <p14:creationId xmlns:p14="http://schemas.microsoft.com/office/powerpoint/2010/main" val="27158422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85E9B8-66B0-80CA-251A-979CF4478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54899-DDC4-007C-F762-E5E7C77430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586"/>
            <a:ext cx="10515600" cy="1325563"/>
          </a:xfrm>
        </p:spPr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5040D4-BCA5-0A59-DC5E-01D34311FB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04552"/>
            <a:ext cx="10515600" cy="5172411"/>
          </a:xfrm>
        </p:spPr>
        <p:txBody>
          <a:bodyPr/>
          <a:lstStyle/>
          <a:p>
            <a:r>
              <a:rPr lang="en-US" dirty="0"/>
              <a:t>Q2: Mediation analysis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48BA5A-738D-0A29-2315-EB0A790444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8855" y="1647210"/>
            <a:ext cx="7678222" cy="2114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01133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CF24C5-F501-D09B-02B9-92C974F7E4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4C14D-9D84-8FDB-C490-BB690AC755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E9D2BB-DF5B-B2F2-3979-7750995431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9200"/>
            <a:ext cx="10515600" cy="563880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Q1: Outcome at year 2 by HAART status</a:t>
            </a:r>
          </a:p>
          <a:p>
            <a:pPr lvl="1"/>
            <a:r>
              <a:rPr lang="en-US" dirty="0"/>
              <a:t>The adjusted models was not generally better than the crude model</a:t>
            </a:r>
          </a:p>
          <a:p>
            <a:pPr lvl="1"/>
            <a:r>
              <a:rPr lang="en-US" dirty="0"/>
              <a:t>In the crude model, there is a 95% probability that the true effect of hard drug use at baseline on Physical QoL is between -5.61 and -1.06 with posterior mean of 3.34.</a:t>
            </a:r>
          </a:p>
          <a:p>
            <a:pPr lvl="2"/>
            <a:r>
              <a:rPr lang="en-US" dirty="0"/>
              <a:t>The same is true for CD4+ T-cells with posterior mean and 95% HPDI of -163.60 (-215.76, -111.58)</a:t>
            </a:r>
          </a:p>
          <a:p>
            <a:pPr lvl="2"/>
            <a:endParaRPr lang="en-US" dirty="0"/>
          </a:p>
          <a:p>
            <a:r>
              <a:rPr lang="en-US" dirty="0"/>
              <a:t>Q2: Mediation analysis</a:t>
            </a:r>
          </a:p>
          <a:p>
            <a:pPr lvl="1"/>
            <a:r>
              <a:rPr lang="en-US" dirty="0"/>
              <a:t>Based on the indicated criteria, there was no substantial difference in the point estimates between the crude and adjusted models. Therefore, treatment adherence is not a mediator </a:t>
            </a:r>
          </a:p>
          <a:p>
            <a:pPr lvl="1"/>
            <a:endParaRPr lang="en-US" dirty="0"/>
          </a:p>
          <a:p>
            <a:r>
              <a:rPr lang="en-US" dirty="0"/>
              <a:t>Limitations:</a:t>
            </a:r>
          </a:p>
          <a:p>
            <a:pPr lvl="1"/>
            <a:r>
              <a:rPr lang="en-US" dirty="0"/>
              <a:t>Loss to follow-up, especially for hard drug users at baseline</a:t>
            </a:r>
          </a:p>
          <a:p>
            <a:pPr lvl="1"/>
            <a:r>
              <a:rPr lang="en-US" dirty="0"/>
              <a:t>Evidence of a change in patient population between baseline and year 2</a:t>
            </a:r>
          </a:p>
          <a:p>
            <a:pPr lvl="2"/>
            <a:r>
              <a:rPr lang="en-US" dirty="0"/>
              <a:t>For example BMI, CD4+ T-cell count</a:t>
            </a:r>
          </a:p>
        </p:txBody>
      </p:sp>
    </p:spTree>
    <p:extLst>
      <p:ext uri="{BB962C8B-B14F-4D97-AF65-F5344CB8AC3E}">
        <p14:creationId xmlns:p14="http://schemas.microsoft.com/office/powerpoint/2010/main" val="35546645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226</TotalTime>
  <Words>604</Words>
  <Application>Microsoft Office PowerPoint</Application>
  <PresentationFormat>Widescreen</PresentationFormat>
  <Paragraphs>79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Project 1 Secondary Analysis of the Multicenter AIDS Cohort Study (MACS)</vt:lpstr>
      <vt:lpstr>Research Question</vt:lpstr>
      <vt:lpstr>Data Overview</vt:lpstr>
      <vt:lpstr>Analysis</vt:lpstr>
      <vt:lpstr>Results</vt:lpstr>
      <vt:lpstr>Results</vt:lpstr>
      <vt:lpstr>Discussion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Jegede, Opeyemi</dc:creator>
  <cp:lastModifiedBy>Jegede, Opeyemi</cp:lastModifiedBy>
  <cp:revision>21</cp:revision>
  <dcterms:created xsi:type="dcterms:W3CDTF">2026-02-04T15:59:40Z</dcterms:created>
  <dcterms:modified xsi:type="dcterms:W3CDTF">2026-03-02T17:45:28Z</dcterms:modified>
</cp:coreProperties>
</file>