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2" d="100"/>
          <a:sy n="222" d="100"/>
        </p:scale>
        <p:origin x="16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1FDB-5806-7005-682A-E6EA1F256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DF8F0-EEA4-6770-6399-BA0FFF1DA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8D03-737F-2017-786B-4A4923D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EE42E-53CC-322B-8566-A51854FC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68E4-79FD-8B61-1598-548E6650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0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8881-079B-9F9C-4C4F-2741EC01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31E9-5040-8869-7A49-FF1FF4CC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A7AA3-AECB-FCEE-4482-627679A0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8B75C-C3F6-5947-5E50-83F014A4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DC0B7-BB26-84D8-D9A7-7C5348E5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1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379B-5D36-2CD8-1D40-EF25F670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7042B-3DEE-436F-AC45-3FAA94BF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8ADCB-FCB7-75A1-C5CC-21C44BF9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6A53-38C0-E6EB-BAD6-0E04AC25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9A3B-EA47-381C-7703-F8301B56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4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294B-2760-06F1-48B4-457E5E2F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6DCF-0D2E-A476-CA45-031354145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E4774-292C-6261-AD3E-03D35BC0E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133CA-76F1-7464-172A-8F18411A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EA994-1C0F-72F8-FF5F-355F2B25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D1D2E-A23A-685B-EC33-B6DBAF37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39A-138F-D552-2651-8AE32DE6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66588-D876-D8D0-3252-F4E659A6E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88785-A6EE-EF6A-3864-5D41AA236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5D7A-4174-A722-1720-FCC9DD13C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521C1-3FBE-510E-E300-65298FFD2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033E6-207A-ADC1-5B66-DAA12A67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62821-62E2-9504-A140-C3C405F4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5BCBB-8F9E-92BA-E907-0CE3044C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8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83D4-B789-480D-4F74-EDD4CAA5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865E5-31BA-306E-66BA-41EE7396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C1AE1-088B-0059-2C53-3FC11375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A6740-8E02-5B3F-D35C-1B229C3E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8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39388-41E0-F7F3-DB0E-54EDCBA1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E6DE8-01E6-8F1F-1D75-4EFB0ED4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D02D1-F387-C218-523F-C8B88DB2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7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EC6D-6EC0-54FF-CD54-3B95AE8A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2539-A042-55E6-9E41-DA4D536F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36E13-C9C8-1BF8-1190-D489C97E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50DC2-9E89-CE3C-6A4B-E262CA9A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B19E-3A9C-C404-47DA-A21C6CC2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327A-B534-AE78-1DFF-70D5FB88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1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75D1-B0F7-9E00-81BD-9937B40D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4A4B4-D8E4-9F93-1359-7455C2893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89FA6-1C96-FD6B-6296-8E2BA40B8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88401-3266-3F67-20FE-5098AE53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996F3-6E71-9BCE-C90E-A64685AC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F5EE2-A084-EE98-08C6-859BB49D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F14E-0982-5A0C-4553-9F2ACCD7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8618B-F08D-173D-29CA-D3780FB64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DD2AD-5366-78E3-A814-67D69B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35F58-BE93-19B4-2810-286ED591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87D8-1C2C-7C46-9A41-BEDE026C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C240B-596E-D2C5-FBED-7F1D84D82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C6E7-EF7E-1444-0EB3-25DD2F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D9D6-E59C-A483-7EE2-BAFBF51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A83DA-C369-E4FB-6AAB-03419652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BE40-10F0-A374-7F88-EDD2627A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BE46A-94C8-7271-A639-B613310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E789-ABAF-AA45-CECF-086610A8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83BE-A5F4-5D9E-93E3-DD2222139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85901-F0CE-42D8-A8F6-D93BE25B957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B3C9-B5C3-DC93-A332-2167F8F49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4931-5E67-67A8-F6A5-851AB84BA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A5AD3-3E8C-4171-A0A6-42336EA52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0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41C8-A910-5491-089E-47B384A2D9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1</a:t>
            </a:r>
            <a:br>
              <a:rPr lang="en-US" dirty="0"/>
            </a:br>
            <a:r>
              <a:rPr lang="en-US" dirty="0"/>
              <a:t>Secondary Analysis of the Multicenter AIDS Cohort Study (MACS)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EF605-AFCC-B057-E67A-3D502B455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Opeyemi (Yemi) Jegede</a:t>
            </a:r>
          </a:p>
          <a:p>
            <a:r>
              <a:rPr lang="en-US" dirty="0"/>
              <a:t>Date: 03/02/2026</a:t>
            </a:r>
          </a:p>
        </p:txBody>
      </p:sp>
    </p:spTree>
    <p:extLst>
      <p:ext uri="{BB962C8B-B14F-4D97-AF65-F5344CB8AC3E}">
        <p14:creationId xmlns:p14="http://schemas.microsoft.com/office/powerpoint/2010/main" val="137038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22E1-60E6-3A9F-5CA0-484F066B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AFF6-7570-1827-3B5B-23A5105BA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of these outcomes,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Q1: Does the outcome at 2 years after HAART differ by hard drug use status at baseline?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Q2: Is this difference explained by adherence (to medications taken since last visit) status at year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7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3630-0647-E090-9625-8E13DEBC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50C8-1B96-EA0B-E10E-F6C15CC7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3D9C-5DDB-F9CB-A69F-324118EF0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Demographic, laboratory, and quality of life (QoL) measures on 715 unique study participants (men) for up to 8 years</a:t>
            </a:r>
          </a:p>
          <a:p>
            <a:pPr lvl="1"/>
            <a:r>
              <a:rPr lang="en-US" dirty="0"/>
              <a:t>Comprising 3935 observations</a:t>
            </a:r>
          </a:p>
          <a:p>
            <a:r>
              <a:rPr lang="en-US" dirty="0"/>
              <a:t>Data was limited to the baseline (unique n=715) and year 2 follow-up timepoints (unique n=506)</a:t>
            </a:r>
          </a:p>
          <a:p>
            <a:endParaRPr lang="en-US" dirty="0"/>
          </a:p>
          <a:p>
            <a:r>
              <a:rPr lang="en-US" dirty="0"/>
              <a:t>Treatment response variables include aggregate physical QoL score, mental QoL score, and CD4+ T-cell counts (cells/ml), and log10 standardized viral load (in copies/mL of blood)</a:t>
            </a:r>
          </a:p>
          <a:p>
            <a:endParaRPr lang="en-US" dirty="0"/>
          </a:p>
          <a:p>
            <a:r>
              <a:rPr lang="en-US" dirty="0"/>
              <a:t>Based on the (right) skew distribution of log10 standardized viral load, it was log transformed for analysis.</a:t>
            </a:r>
          </a:p>
          <a:p>
            <a:endParaRPr lang="en-US" dirty="0"/>
          </a:p>
          <a:p>
            <a:r>
              <a:rPr lang="en-US" dirty="0"/>
              <a:t>43 of 506 observations with missing values for predictors and outcomes of interest were excluded for analysis, the remaining samples (n=463) was used for frequentist and Bayesian analysis</a:t>
            </a:r>
          </a:p>
          <a:p>
            <a:endParaRPr lang="en-US" dirty="0"/>
          </a:p>
          <a:p>
            <a:r>
              <a:rPr lang="en-US" dirty="0"/>
              <a:t>Box plots for graphical display of distribution, means/SD for location/spread, and frequency/proportion for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3496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DBE6-7375-5E4C-C774-1BBE5310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B3EC-2EC4-A18B-0194-41DC1084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E7D7-905B-63F8-64AF-3804AFFB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Q1:Does the outcome at 2 years after HAART differ by hard drug use status at baseline?</a:t>
            </a:r>
          </a:p>
          <a:p>
            <a:pPr lvl="1"/>
            <a:r>
              <a:rPr lang="en-US" dirty="0"/>
              <a:t>Posterior mean and credible interval of the posterior distribution</a:t>
            </a:r>
          </a:p>
          <a:p>
            <a:pPr lvl="1"/>
            <a:r>
              <a:rPr lang="en-US" dirty="0"/>
              <a:t>Report probability of observing a clinically meaning effect</a:t>
            </a:r>
          </a:p>
          <a:p>
            <a:pPr lvl="1"/>
            <a:r>
              <a:rPr lang="en-US" dirty="0"/>
              <a:t>Primarily Bayesian analysis in Stan; frequentist for comparing results</a:t>
            </a:r>
          </a:p>
          <a:p>
            <a:pPr lvl="2"/>
            <a:r>
              <a:rPr lang="en-US" dirty="0"/>
              <a:t>Normal likelihood, non-informative priors from N(0, 100^2), half-normal for residual variance</a:t>
            </a:r>
          </a:p>
          <a:p>
            <a:r>
              <a:rPr lang="en-US" dirty="0"/>
              <a:t>Q2: Is this difference explained by adherence (to medications taken since last visit) status at year 2?</a:t>
            </a:r>
          </a:p>
          <a:p>
            <a:pPr lvl="1"/>
            <a:r>
              <a:rPr lang="en-US" dirty="0"/>
              <a:t>Univariable, crude, and adjusted models</a:t>
            </a:r>
          </a:p>
          <a:p>
            <a:pPr lvl="1"/>
            <a:r>
              <a:rPr lang="en-US" dirty="0"/>
              <a:t>Informal test, mean (credible interval) of the difference in posterior draws for the coefficient corresponding to hard drug use between the crude and adjusted models</a:t>
            </a:r>
          </a:p>
          <a:p>
            <a:pPr lvl="1"/>
            <a:r>
              <a:rPr lang="en-US" dirty="0"/>
              <a:t>Compare against investigator-provided clinically meaning effect threshold</a:t>
            </a:r>
          </a:p>
          <a:p>
            <a:pPr lvl="1"/>
            <a:r>
              <a:rPr lang="en-US" dirty="0"/>
              <a:t>Primarily Bayesian analysis in Stan; frequentist for comparing results</a:t>
            </a:r>
          </a:p>
          <a:p>
            <a:pPr lvl="2"/>
            <a:r>
              <a:rPr lang="en-US" dirty="0"/>
              <a:t>Same methods as above</a:t>
            </a:r>
          </a:p>
        </p:txBody>
      </p:sp>
    </p:spTree>
    <p:extLst>
      <p:ext uri="{BB962C8B-B14F-4D97-AF65-F5344CB8AC3E}">
        <p14:creationId xmlns:p14="http://schemas.microsoft.com/office/powerpoint/2010/main" val="396559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EF36-73F3-2F18-71B4-9D290A93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EF18-29D0-5168-EB08-898762ED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6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23BA-76DF-10D4-7C01-B3771BA1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552"/>
            <a:ext cx="10515600" cy="5172411"/>
          </a:xfrm>
        </p:spPr>
        <p:txBody>
          <a:bodyPr>
            <a:normAutofit/>
          </a:bodyPr>
          <a:lstStyle/>
          <a:p>
            <a:r>
              <a:rPr lang="en-US" sz="2000" dirty="0"/>
              <a:t>Q1: Outcome by HAART Status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Posterior probabilities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7E91B-9B63-B61F-70DD-5EB09B8CB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139" y="21587"/>
            <a:ext cx="4697861" cy="4443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D500C-3D17-4EAA-AEA9-31441CA96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53" y="1347149"/>
            <a:ext cx="5359547" cy="3217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EB2696-7150-3F8D-15D4-C6DD4E120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88" y="5341529"/>
            <a:ext cx="5895212" cy="1494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322B97-9AE1-2057-1130-27F447371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139" y="4525556"/>
            <a:ext cx="4552774" cy="233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4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E9B8-66B0-80CA-251A-979CF447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4899-DDC4-007C-F762-E5E7C774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86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40D4-BCA5-0A59-DC5E-01D34311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552"/>
            <a:ext cx="10515600" cy="5172411"/>
          </a:xfrm>
        </p:spPr>
        <p:txBody>
          <a:bodyPr/>
          <a:lstStyle/>
          <a:p>
            <a:r>
              <a:rPr lang="en-US" dirty="0"/>
              <a:t>Q2: Mediation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8BA5A-738D-0A29-2315-EB0A79044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55" y="1647210"/>
            <a:ext cx="7678222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1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24C5-F501-D09B-02B9-92C974F7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14D-9D84-8FDB-C490-BB690AC7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D2BB-DF5B-B2F2-3979-77509954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Q1: Outcome at year 2 by HAART status</a:t>
            </a:r>
          </a:p>
          <a:p>
            <a:pPr lvl="1"/>
            <a:r>
              <a:rPr lang="en-US" dirty="0"/>
              <a:t>The adjusted models was not generally better than the crude model</a:t>
            </a:r>
          </a:p>
          <a:p>
            <a:pPr lvl="1"/>
            <a:r>
              <a:rPr lang="en-US" dirty="0"/>
              <a:t>In the crude model, there is a 95% probability that the true effect of hard drug use at baseline on Physical QoL is between -5.61 and -1.06 with posterior mean of 3.34.</a:t>
            </a:r>
          </a:p>
          <a:p>
            <a:pPr lvl="2"/>
            <a:r>
              <a:rPr lang="en-US" dirty="0"/>
              <a:t>The same is true for CD4+ T-cells with posterior mean and 95% HPDI of -163.60 (-215.76, -111.58)</a:t>
            </a:r>
          </a:p>
          <a:p>
            <a:r>
              <a:rPr lang="en-US" dirty="0"/>
              <a:t>Q2: </a:t>
            </a:r>
            <a:r>
              <a:rPr lang="en-US"/>
              <a:t>Mediation analysis</a:t>
            </a:r>
            <a:endParaRPr lang="en-US" dirty="0"/>
          </a:p>
          <a:p>
            <a:pPr lvl="1"/>
            <a:r>
              <a:rPr lang="en-US" dirty="0"/>
              <a:t>Based on the indicated criteria, there was no substantial difference in the point estimates between the crude and adjusted models. Therefore, treatment adherence is not a mediator </a:t>
            </a:r>
          </a:p>
        </p:txBody>
      </p:sp>
    </p:spTree>
    <p:extLst>
      <p:ext uri="{BB962C8B-B14F-4D97-AF65-F5344CB8AC3E}">
        <p14:creationId xmlns:p14="http://schemas.microsoft.com/office/powerpoint/2010/main" val="355466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507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Project 1 Secondary Analysis of the Multicenter AIDS Cohort Study (MACS)</vt:lpstr>
      <vt:lpstr>Research Question</vt:lpstr>
      <vt:lpstr>Data Overview</vt:lpstr>
      <vt:lpstr>Analysis</vt:lpstr>
      <vt:lpstr>Results</vt:lpstr>
      <vt:lpstr>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Jegede, Opeyemi</dc:creator>
  <cp:lastModifiedBy>Jegede, Opeyemi</cp:lastModifiedBy>
  <cp:revision>15</cp:revision>
  <dcterms:created xsi:type="dcterms:W3CDTF">2026-02-04T15:59:40Z</dcterms:created>
  <dcterms:modified xsi:type="dcterms:W3CDTF">2026-03-02T13:30:01Z</dcterms:modified>
</cp:coreProperties>
</file>