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22" d="100"/>
          <a:sy n="222" d="100"/>
        </p:scale>
        <p:origin x="19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8E26-5D50-4E9D-905A-04E11F969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FF256-B6FF-03F2-3EEC-56457CDBB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ED180-94A8-8CE2-03C3-2EA202682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9B4EB-A239-45C9-8CC7-97DED2CC621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74DCB-E52E-1881-A091-272D9E4E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49771-1F08-5F52-7D0C-618609382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956B-83C3-46A6-AB5E-DB873F193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0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8E45A-AB1E-0343-DAAB-44169353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5CB62-BDE5-C872-1C5B-5101682A9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E1F95-1D86-EDAC-1CCE-39583CD92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9B4EB-A239-45C9-8CC7-97DED2CC621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2AEA6-BE55-DDBB-0376-CA7AF74F1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D74CE-D659-E114-4541-DD67AEE7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956B-83C3-46A6-AB5E-DB873F193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61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7D469-12D2-D6F4-5D4D-BEA015BA3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48D7C-B27D-9953-89C5-E38D5D45C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7D177-4585-4E6E-F4E9-C5A7572DD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9B4EB-A239-45C9-8CC7-97DED2CC621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CFF5F-00B0-4DD6-E51C-2FD5E8D0F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3506E-03D2-E223-0446-8E16FA938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956B-83C3-46A6-AB5E-DB873F193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10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7ED4C-B3DE-6DAD-5E6A-456112D8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1D64F-BA4A-D557-1EA2-9AEEB2A166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8CA7-08F3-05A6-7485-9120D2B22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2F64A-6449-C641-6DA7-ACFF9260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9B4EB-A239-45C9-8CC7-97DED2CC621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BCE86-8EE9-ABD6-454C-7BE417330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3EA43-65EF-AA1B-A612-E5EF6EBD0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956B-83C3-46A6-AB5E-DB873F193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29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D1B9E-F87B-D7DA-AE8B-A61E85C6D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0D8A2-A1D9-6B0F-D566-E78F9DFF7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DE870-4F25-BB2C-7A60-1200063D2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C10D5-1878-0D49-55B3-9EE0041F15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985CC8-3659-423A-587B-F5981BFC11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BAC4D3-889B-4704-3D7C-21841C03C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9B4EB-A239-45C9-8CC7-97DED2CC621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D839E-5686-4625-0C83-31CCB4779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22D893-F0CF-42CF-0E34-AA2C271C8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956B-83C3-46A6-AB5E-DB873F193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15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D5530-4721-1E5D-9CD9-0DD3354EB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2C92B3-2A7C-0B52-DDB2-0F529A1B5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9B4EB-A239-45C9-8CC7-97DED2CC621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66D52A-F779-D9DA-2C89-94C6A5CFB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34D28-4254-206B-6763-A0824B7F2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956B-83C3-46A6-AB5E-DB873F193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5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EE7FF8-6A80-31B4-A719-0FC8C3F3D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9B4EB-A239-45C9-8CC7-97DED2CC621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6D0F06-6A26-FD77-F5D1-F75248EA1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7F676-512A-E38E-01E4-B98602C1C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956B-83C3-46A6-AB5E-DB873F193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9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AD692-D635-30A7-F9BA-E07C8A1C4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1C379-29B9-DFC4-E155-A7B6DD66A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5EC20-657D-DD59-B52C-C52CEA418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5CDD3-151C-1B0D-CF95-8467FC825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9B4EB-A239-45C9-8CC7-97DED2CC621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802A3-59A8-5CC9-0B81-3D7826BE1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08C72-70B7-D068-3B99-A9B469A7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956B-83C3-46A6-AB5E-DB873F193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69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1C26B-E612-CCC2-B1E9-820B105F6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A33E6F-1AFF-3C12-7110-4D886007B5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17466-8B71-E1A3-2A57-B7FE7CB71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E2025-5109-23C4-FC75-6524E5951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9B4EB-A239-45C9-8CC7-97DED2CC621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AD6A5-ED3D-3B7A-E811-E6B97E55D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CF80E-A044-2603-1664-32860BD68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956B-83C3-46A6-AB5E-DB873F193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6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5B48-CD61-FB52-A011-FBEE45C94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A3481-5C28-61BB-6900-18A5EA0F6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D8F27-D2F6-874D-17E7-D14377477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9B4EB-A239-45C9-8CC7-97DED2CC621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CE97A-5F8D-D122-F1AD-D55F449D2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D9811-5614-10EC-113D-305BC3292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956B-83C3-46A6-AB5E-DB873F193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699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5BDC9E-554A-EAA3-4D75-EAF8670FE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5ADB2-08D9-42B0-828C-E4D6327DD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00E82-CE29-A72A-AE3B-ED8AAC99F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9B4EB-A239-45C9-8CC7-97DED2CC621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D486A-0FB3-5B80-93AF-A0A2E597F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A8B32-5673-4EF2-85A2-CAEEA7AAC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956B-83C3-46A6-AB5E-DB873F193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07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892887-6D64-9C1F-CC87-6EDFE9B8D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E8904-C389-4CE8-7C5C-123C571CE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7DAA1-B8E1-08AB-648A-1C2BE5710E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9B4EB-A239-45C9-8CC7-97DED2CC621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B9D97-4AFC-8151-D7C4-20288A119A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9D0CC-C849-8503-6D6E-1808A0023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66956B-83C3-46A6-AB5E-DB873F193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0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BC529-2BA8-1800-CCF1-D0828116BF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4:</a:t>
            </a:r>
            <a:br>
              <a:rPr lang="en-US" dirty="0"/>
            </a:br>
            <a:r>
              <a:rPr lang="en-US" dirty="0"/>
              <a:t>Assessment of Variable Selection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50287-D26E-4D68-270C-6E2FA1A6AD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pPr algn="r"/>
            <a:r>
              <a:rPr lang="en-US" dirty="0"/>
              <a:t>Yemi Jegede</a:t>
            </a:r>
          </a:p>
          <a:p>
            <a:pPr algn="r"/>
            <a:r>
              <a:rPr lang="en-US" dirty="0"/>
              <a:t>May 4th, 2026</a:t>
            </a:r>
          </a:p>
        </p:txBody>
      </p:sp>
    </p:spTree>
    <p:extLst>
      <p:ext uri="{BB962C8B-B14F-4D97-AF65-F5344CB8AC3E}">
        <p14:creationId xmlns:p14="http://schemas.microsoft.com/office/powerpoint/2010/main" val="2727083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3BDC3-4C6D-687D-56A1-C5B3BDD5C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&amp; 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FB8AD-7B95-402F-D8F3-AC2780F2C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investigate different model selection methods in multivariable linear regression using simulation techniques.</a:t>
            </a:r>
          </a:p>
          <a:p>
            <a:endParaRPr lang="en-US" dirty="0"/>
          </a:p>
          <a:p>
            <a:r>
              <a:rPr lang="en-US" dirty="0"/>
              <a:t>Methods: Backwards selection using (a)p-value, (b) AIC, (c) BIC; shrinkage methods (with </a:t>
            </a:r>
            <a:r>
              <a:rPr lang="el-G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λ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c(min, 1se)</a:t>
            </a:r>
            <a:r>
              <a:rPr lang="en-US" dirty="0"/>
              <a:t>) using (d) LASSO, and (e) Elastic net (</a:t>
            </a:r>
            <a:r>
              <a:rPr lang="el-G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α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0.5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Is any of the model selection techniques ‘best’ across all scenarios tested?</a:t>
            </a:r>
          </a:p>
          <a:p>
            <a:pPr lvl="1"/>
            <a:r>
              <a:rPr lang="en-US" dirty="0"/>
              <a:t>‘Best’ is based on the performance metrics of interest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101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9F214-6F2A-1669-FE1B-A71B72DC8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BBEC8-9329-55EF-6DB5-7C41F9B78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112"/>
            <a:ext cx="10515600" cy="946976"/>
          </a:xfrm>
        </p:spPr>
        <p:txBody>
          <a:bodyPr/>
          <a:lstStyle/>
          <a:p>
            <a:r>
              <a:rPr lang="en-US" dirty="0"/>
              <a:t>Simulation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C4EED-3253-C73C-01AD-DD6882968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1858"/>
            <a:ext cx="10515600" cy="534384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Simulation scenarios (6 combined)</a:t>
            </a:r>
          </a:p>
          <a:p>
            <a:pPr lvl="1"/>
            <a:r>
              <a:rPr lang="en-US" dirty="0"/>
              <a:t>Sample sizes: N = c(250, 500)</a:t>
            </a:r>
          </a:p>
          <a:p>
            <a:pPr lvl="1"/>
            <a:r>
              <a:rPr lang="en-US" dirty="0"/>
              <a:t>Exchangeable matrix </a:t>
            </a:r>
            <a:r>
              <a:rPr lang="el-GR" i="1" dirty="0"/>
              <a:t>ρ</a:t>
            </a:r>
            <a:r>
              <a:rPr lang="en-US" dirty="0"/>
              <a:t> for predictors: c(0.00, 0.35, 0.70)</a:t>
            </a:r>
          </a:p>
          <a:p>
            <a:pPr lvl="1"/>
            <a:endParaRPr lang="en-US" dirty="0"/>
          </a:p>
          <a:p>
            <a:r>
              <a:rPr lang="en-US" dirty="0"/>
              <a:t>Data generation mechanism</a:t>
            </a:r>
          </a:p>
          <a:p>
            <a:pPr lvl="1"/>
            <a:r>
              <a:rPr lang="en-US" dirty="0"/>
              <a:t>Simulate Gaussian outcome and 20 predictors using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hdrm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gen_data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/>
          </a:p>
          <a:p>
            <a:pPr lvl="1"/>
            <a:r>
              <a:rPr lang="en-US" dirty="0"/>
              <a:t>For each scenario,</a:t>
            </a:r>
          </a:p>
          <a:p>
            <a:pPr lvl="2"/>
            <a:r>
              <a:rPr lang="en-US" dirty="0"/>
              <a:t>5 non-zero predictors with </a:t>
            </a:r>
            <a:r>
              <a:rPr lang="el-GR" dirty="0"/>
              <a:t>β</a:t>
            </a:r>
            <a:r>
              <a:rPr lang="en-US" dirty="0"/>
              <a:t> = c(0.5/3, 1/3, 1.5/3, 2.0/3, 2.5/3)</a:t>
            </a:r>
          </a:p>
          <a:p>
            <a:pPr lvl="2"/>
            <a:r>
              <a:rPr lang="en-US" dirty="0"/>
              <a:t>15 predictors all with </a:t>
            </a:r>
            <a:r>
              <a:rPr lang="el-GR" dirty="0"/>
              <a:t>β</a:t>
            </a:r>
            <a:r>
              <a:rPr lang="en-US" dirty="0"/>
              <a:t> = 0</a:t>
            </a:r>
          </a:p>
          <a:p>
            <a:r>
              <a:rPr lang="en-US" dirty="0"/>
              <a:t>Data analysis (backwards selection [</a:t>
            </a:r>
            <a:r>
              <a:rPr lang="en-US" dirty="0" err="1"/>
              <a:t>bsel</a:t>
            </a:r>
            <a:r>
              <a:rPr lang="en-US" dirty="0"/>
              <a:t>])</a:t>
            </a:r>
          </a:p>
          <a:p>
            <a:pPr lvl="1"/>
            <a:r>
              <a:rPr lang="en-US" dirty="0" err="1"/>
              <a:t>bsel</a:t>
            </a:r>
            <a:r>
              <a:rPr lang="en-US" dirty="0"/>
              <a:t> with p-value (</a:t>
            </a:r>
            <a:r>
              <a:rPr lang="en-US" dirty="0" err="1"/>
              <a:t>bsel</a:t>
            </a:r>
            <a:r>
              <a:rPr lang="en-US" baseline="-25000" dirty="0" err="1"/>
              <a:t>pv</a:t>
            </a:r>
            <a:r>
              <a:rPr lang="en-US" dirty="0"/>
              <a:t>):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olsrr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ols_step_backward_p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=0.05)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rms::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fastbw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(rule=p,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=0.05, type=“individual”)</a:t>
            </a:r>
          </a:p>
          <a:p>
            <a:pPr lvl="2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/>
              <a:t>bsel</a:t>
            </a:r>
            <a:r>
              <a:rPr lang="en-US" baseline="-25000" dirty="0" err="1"/>
              <a:t>AIC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stats::step(direction = 'backward', k = 2)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/>
              <a:t>bsel</a:t>
            </a:r>
            <a:r>
              <a:rPr lang="en-US" baseline="-25000" dirty="0" err="1"/>
              <a:t>BIC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stats::step(direction = 'backward', k = log(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nrow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LASSO: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glmnet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cv.glmnet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(alpha = 1,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type.measure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Elastic Net: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glmnet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cv.glmnet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(alpha=0.5,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type.measure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056337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034D0-2990-92E5-B0BD-5B1687405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31605-5AAD-A7AB-B42A-756BA05E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112"/>
            <a:ext cx="10515600" cy="946976"/>
          </a:xfrm>
        </p:spPr>
        <p:txBody>
          <a:bodyPr/>
          <a:lstStyle/>
          <a:p>
            <a:r>
              <a:rPr lang="en-US"/>
              <a:t>Simulation Workflow, continued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7A1D0-D667-2D1C-DA0D-625131D02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6151"/>
            <a:ext cx="10515600" cy="534384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Performance metrics</a:t>
            </a:r>
          </a:p>
          <a:p>
            <a:pPr lvl="1"/>
            <a:r>
              <a:rPr lang="en-US" dirty="0"/>
              <a:t>For all variables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True positive rate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False positive rate</a:t>
            </a:r>
          </a:p>
          <a:p>
            <a:pPr lvl="1"/>
            <a:r>
              <a:rPr lang="en-US" dirty="0"/>
              <a:t>For selected variables</a:t>
            </a:r>
          </a:p>
          <a:p>
            <a:pPr lvl="2"/>
            <a:r>
              <a:rPr lang="en-US" dirty="0"/>
              <a:t>Bias: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E[</a:t>
            </a:r>
            <a:r>
              <a:rPr lang="el-GR" dirty="0"/>
              <a:t>β</a:t>
            </a:r>
            <a:r>
              <a:rPr lang="en-US" baseline="-25000" dirty="0"/>
              <a:t>hat</a:t>
            </a:r>
            <a:r>
              <a:rPr lang="en-US" dirty="0"/>
              <a:t>] – </a:t>
            </a:r>
            <a:r>
              <a:rPr lang="el-GR" dirty="0"/>
              <a:t>β</a:t>
            </a:r>
            <a:r>
              <a:rPr lang="en-US" baseline="-25000" dirty="0"/>
              <a:t>true</a:t>
            </a:r>
          </a:p>
          <a:p>
            <a:pPr lvl="2"/>
            <a:r>
              <a:rPr lang="en-US" dirty="0"/>
              <a:t>Coverage of 95% confidence interval: I(</a:t>
            </a:r>
            <a:r>
              <a:rPr lang="el-GR" dirty="0"/>
              <a:t>β</a:t>
            </a:r>
            <a:r>
              <a:rPr lang="en-US" baseline="-25000" dirty="0"/>
              <a:t>true</a:t>
            </a:r>
            <a:r>
              <a:rPr lang="en-US" dirty="0"/>
              <a:t> in 95% CI for </a:t>
            </a:r>
            <a:r>
              <a:rPr lang="el-GR" dirty="0"/>
              <a:t>β</a:t>
            </a:r>
            <a:r>
              <a:rPr lang="en-US" baseline="-25000" dirty="0"/>
              <a:t>hat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Rejection rate: I(variable selected &amp; p-value ≤0.05)</a:t>
            </a:r>
          </a:p>
          <a:p>
            <a:pPr lvl="3"/>
            <a:r>
              <a:rPr lang="en-US" dirty="0"/>
              <a:t>1-Type II error [power] assessed under X1 – X5</a:t>
            </a:r>
          </a:p>
          <a:p>
            <a:pPr lvl="3"/>
            <a:r>
              <a:rPr lang="en-US" dirty="0"/>
              <a:t>Type I error [alpha] assessed under either of X6 – X20</a:t>
            </a:r>
          </a:p>
          <a:p>
            <a:r>
              <a:rPr lang="en-US" i="1" dirty="0"/>
              <a:t>Up to </a:t>
            </a:r>
            <a:r>
              <a:rPr lang="en-US" dirty="0"/>
              <a:t>10,000 Monte Carlo samples </a:t>
            </a:r>
          </a:p>
          <a:p>
            <a:r>
              <a:rPr lang="en-US" dirty="0"/>
              <a:t>Each run is reproducible (with a unique seed) and includes </a:t>
            </a:r>
          </a:p>
          <a:p>
            <a:pPr lvl="1"/>
            <a:r>
              <a:rPr lang="en-US" dirty="0"/>
              <a:t>(a) data generation, </a:t>
            </a:r>
          </a:p>
          <a:p>
            <a:pPr lvl="1"/>
            <a:r>
              <a:rPr lang="en-US" dirty="0"/>
              <a:t>(b) variable selection, </a:t>
            </a:r>
          </a:p>
          <a:p>
            <a:pPr lvl="1"/>
            <a:r>
              <a:rPr lang="en-US" dirty="0"/>
              <a:t>(c) calculate performance metrics, and </a:t>
            </a:r>
          </a:p>
          <a:p>
            <a:pPr lvl="1"/>
            <a:r>
              <a:rPr lang="en-US" dirty="0"/>
              <a:t>(d) storage of results for later summarization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1478929-C207-249A-2061-DEC6E45F0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515" y="1642045"/>
            <a:ext cx="5957316" cy="80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97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433</Words>
  <Application>Microsoft Office PowerPoint</Application>
  <PresentationFormat>Widescreen</PresentationFormat>
  <Paragraphs>49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Courier New</vt:lpstr>
      <vt:lpstr>Office Theme</vt:lpstr>
      <vt:lpstr>Project 4: Assessment of Variable Selection Algorithms</vt:lpstr>
      <vt:lpstr>Objective &amp; Research Question</vt:lpstr>
      <vt:lpstr>Simulation Workflow</vt:lpstr>
      <vt:lpstr>Simulation Workflow, continued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Jegede, Opeyemi</dc:creator>
  <cp:lastModifiedBy>Jegede, Opeyemi</cp:lastModifiedBy>
  <cp:revision>14</cp:revision>
  <dcterms:created xsi:type="dcterms:W3CDTF">2026-05-04T04:57:46Z</dcterms:created>
  <dcterms:modified xsi:type="dcterms:W3CDTF">2026-05-04T13:23:04Z</dcterms:modified>
</cp:coreProperties>
</file>