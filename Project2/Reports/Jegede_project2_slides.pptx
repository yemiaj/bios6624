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08" y="2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6D9D1-B92E-D569-6971-050744DE1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D8781-D51E-D2CB-FFC1-FB9E6EFA7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73456-B62E-8F23-DAEF-94EDC9AC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CD07F-0E73-EE6E-D12F-23229E68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17176-7BFA-12D5-14C9-27FC96F4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4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452A-6BF1-A24D-3D5F-434C0C52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E2BD1-C44D-83F2-4B75-39D98EA98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15A50-DD4D-01C4-D925-C6E66A134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FD394-4CEB-A06C-59D3-2122B8B4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7C035-5CCC-FD8D-AC44-A4EA1929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1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443A-D6D0-13CD-E825-A2CBE10AA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187AE-C9EC-6C89-F4D6-D4974A209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60C3A-18EE-59F7-FC3E-22CB9D4AC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8D662-7C2A-C9DF-E420-12BB66CE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0F248-70AE-FCE3-E6DC-66D99E5B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9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3438-060A-D4B6-E4B3-64EF2D17A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28013-7E7D-382D-19F4-C22136273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5C4B8-7517-8FE1-30F9-862D13E01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C989-11B5-0C21-14F4-2111DCF7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D06C7-B067-BFD3-F640-F45EBC00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D14F8-1B18-E2CD-EE85-A5218CA9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72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3C97-808D-2FAA-CF17-FFEBED50F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99044-B7C0-200C-6E1A-D32655C05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6ED2E-BA3D-8F1E-D603-F41ECF0B0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A5C5C-7F6D-0B3B-59BA-A9F7C15C0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B9483-325D-5696-10E9-86D364FEE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6ADB96-2A17-754E-01B0-C2D1D366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E9960-B35A-14A0-D896-AB23AD7E1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7542A-4340-85DA-7C77-09F49599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2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6D0D-F6EF-679C-2162-24253878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D7829-D093-4169-E432-4C0E0100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8D89B-D07D-CC44-1CC6-F32FCF74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AD05C-F767-C3B0-5C65-CC7342889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75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BAC95-DE19-E1A9-225D-49591A48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A85D5-7256-D7A7-5C77-73732B98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4F54D-0EBB-7A54-6F78-7031C88B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5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D4F7-4152-3A97-E1E4-78A3886C5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D1D3C-5B3B-4994-E909-320F66D53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3E19A-2228-55DC-0AA6-E1E4EF0A6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EB615-4D8B-47B6-E720-8DA7F532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C5CDF-3FCF-D0FD-1A8B-5635122A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C4FA0-7DC8-9364-8C34-10FCE966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2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32E1-CFAD-1279-A37E-A3F7629B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F83853-80A2-5156-4E6D-02B94D7B0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81465-BA51-2144-1016-458EAAE91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33067-858C-C130-11FF-6F385195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1CDB2-C240-92DE-A031-458B4197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53082-E22F-5513-F99C-F4E4DB0F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3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19455-2EEA-84F6-6D17-7D2ADFC8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128AE-5B31-5309-981F-45005722D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06C72-53F4-8CAE-4423-6B2873B2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21ED-85B4-529F-5CDE-6D9A026A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1DCA6-15DB-D8C9-DE80-672EB0C65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39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F3836-D449-62E6-5B36-A0CE57D4C1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28431-4EF9-E2F7-3204-6F1F83E75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2B05D-DE73-F4D5-1C08-5DC8F2C84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A05B-D8B7-60A0-4C4A-BEA4A34D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82FD-3D18-E0F5-7964-3178DF8DF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3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B2506-5B71-C1D8-50ED-6F94D9A6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9D9E4-18DC-30F9-A12B-0F8F3EFB2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FC796-DE7D-1838-3180-5A5D53043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2D355-D29A-42E0-8307-18EFD07FDA1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F683F-2B84-98A0-FF62-4E1C71CA7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C05BA-2BB9-E951-A555-826B90548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D8271-104B-4162-9248-EAD2E52D6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4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96C-20A3-6A82-9310-BA5791344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37721"/>
            <a:ext cx="9144000" cy="2387600"/>
          </a:xfrm>
        </p:spPr>
        <p:txBody>
          <a:bodyPr>
            <a:noAutofit/>
          </a:bodyPr>
          <a:lstStyle/>
          <a:p>
            <a:r>
              <a:rPr lang="en-US" sz="4800" dirty="0"/>
              <a:t>Project 2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Analysis and Sample Size Calculation for a Grant Application: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Relationship between inflammation, AD pathology and Cognitive decline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05FB3-703C-B6BE-21EB-02EA75F81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30837"/>
            <a:ext cx="9144000" cy="1655762"/>
          </a:xfrm>
        </p:spPr>
        <p:txBody>
          <a:bodyPr/>
          <a:lstStyle/>
          <a:p>
            <a:r>
              <a:rPr lang="en-US" dirty="0"/>
              <a:t>Name: Opeyemi (Yemi) Jegede</a:t>
            </a:r>
          </a:p>
          <a:p>
            <a:r>
              <a:rPr lang="en-US" dirty="0"/>
              <a:t>Date: 03/30/2026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097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D01F7E-5F94-63B2-EC71-0408C16F4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Aims and Hypothesis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7FB22C-F249-9405-1AAE-929A42450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Aim 1: Evaluate markers of inflammation, cognition and brain structure</a:t>
            </a:r>
          </a:p>
          <a:p>
            <a:endParaRPr lang="en-US" dirty="0"/>
          </a:p>
          <a:p>
            <a:pPr lvl="1"/>
            <a:r>
              <a:rPr lang="en-US" dirty="0"/>
              <a:t>1a (hypothesis): Higher baseline inflammation markers will predict decline in cognition and brain structure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1b (hypothesis): Higher change in inflammation markers will be associated with higher decline in outcomes</a:t>
            </a:r>
          </a:p>
          <a:p>
            <a:pPr lvl="1"/>
            <a:endParaRPr lang="en-US" dirty="0"/>
          </a:p>
          <a:p>
            <a:r>
              <a:rPr lang="en-US" dirty="0"/>
              <a:t>Aim 2: Examine how markers of inflammation impact AD pathology &amp; progression of cognitive impairment</a:t>
            </a:r>
          </a:p>
          <a:p>
            <a:endParaRPr lang="en-US" dirty="0"/>
          </a:p>
          <a:p>
            <a:pPr lvl="1"/>
            <a:r>
              <a:rPr lang="en-US" dirty="0"/>
              <a:t>Hypothesis: There is an interaction between inflammation markers and amyloid deposition</a:t>
            </a:r>
          </a:p>
        </p:txBody>
      </p:sp>
    </p:spTree>
    <p:extLst>
      <p:ext uri="{BB962C8B-B14F-4D97-AF65-F5344CB8AC3E}">
        <p14:creationId xmlns:p14="http://schemas.microsoft.com/office/powerpoint/2010/main" val="88785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B9457-32FF-A146-C091-F127FF3C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FED28E-3C53-77C3-2D60-10C5D1710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(expected) Overview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E94F77C-80BE-9F7E-50BA-40908E579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3412"/>
            <a:ext cx="10515600" cy="407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9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44457-E60E-09CE-DFD8-F825FC59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E11211-B97D-8421-66F4-A4F781CC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Plan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0734BB-26E4-C027-21AA-3CB1DAA66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Descriptive analysis: </a:t>
            </a:r>
          </a:p>
          <a:p>
            <a:pPr lvl="1"/>
            <a:r>
              <a:rPr lang="en-US" dirty="0"/>
              <a:t>Mean/SD for continuous, and frequency proportion for categorical</a:t>
            </a:r>
          </a:p>
          <a:p>
            <a:pPr lvl="1"/>
            <a:r>
              <a:rPr lang="en-US" dirty="0"/>
              <a:t>Tabulate estimates and stratify by time period (baseline vs one-year)</a:t>
            </a:r>
          </a:p>
          <a:p>
            <a:pPr lvl="1"/>
            <a:r>
              <a:rPr lang="en-US" dirty="0"/>
              <a:t>Graphical assessments to check </a:t>
            </a:r>
            <a:r>
              <a:rPr lang="en-US" dirty="0" err="1"/>
              <a:t>skweness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Primary analysis:</a:t>
            </a:r>
          </a:p>
          <a:p>
            <a:pPr lvl="1"/>
            <a:r>
              <a:rPr lang="en-US" dirty="0"/>
              <a:t>Planned enrollment</a:t>
            </a:r>
            <a:r>
              <a:rPr lang="en-US"/>
              <a:t>/eligible is </a:t>
            </a:r>
            <a:r>
              <a:rPr lang="en-US" dirty="0"/>
              <a:t>194/175 subjects with MCI (138/125) and HCs (56/50)</a:t>
            </a:r>
          </a:p>
          <a:p>
            <a:pPr lvl="1"/>
            <a:r>
              <a:rPr lang="en-US" dirty="0"/>
              <a:t>Multivariable linear regression model for pairwise combination of predictor and outcomes</a:t>
            </a:r>
          </a:p>
          <a:p>
            <a:pPr lvl="1"/>
            <a:r>
              <a:rPr lang="en-US" dirty="0"/>
              <a:t>Hypothesis testing based on the partial F-test statistic for a reduced vs full model</a:t>
            </a:r>
          </a:p>
          <a:p>
            <a:pPr lvl="1"/>
            <a:endParaRPr lang="en-US" dirty="0"/>
          </a:p>
          <a:p>
            <a:r>
              <a:rPr lang="en-US" dirty="0"/>
              <a:t>Covariate selection</a:t>
            </a:r>
          </a:p>
          <a:p>
            <a:pPr lvl="1"/>
            <a:r>
              <a:rPr lang="en-US" dirty="0"/>
              <a:t>Relationship between covariate pairs will guide selection choice</a:t>
            </a:r>
          </a:p>
          <a:p>
            <a:pPr lvl="2"/>
            <a:r>
              <a:rPr lang="en-US" dirty="0"/>
              <a:t>Selection based on strength of correlation, for example</a:t>
            </a:r>
          </a:p>
          <a:p>
            <a:pPr lvl="1"/>
            <a:r>
              <a:rPr lang="en-US" dirty="0"/>
              <a:t>Includes assessment of confounding and precision variables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405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9D0AA-4FCA-64C8-671B-08E8B884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DDF4E9-C830-D204-DDA4-6A079F99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Calculation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2839E1-AB23-A72F-9560-9DDB710EE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Aim 1 </a:t>
            </a:r>
            <a:r>
              <a:rPr lang="en-US" b="1" dirty="0"/>
              <a:t>|</a:t>
            </a:r>
            <a:r>
              <a:rPr lang="en-US" dirty="0"/>
              <a:t> Aim 2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powertools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mlrF.partial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InteractionPoweR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::power_interaction_r2()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Hommel’s method to control FWER at 5%</a:t>
            </a:r>
          </a:p>
          <a:p>
            <a:pPr lvl="1"/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p.adjust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(p, method = “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hommel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”), p is vector of p-values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BBD87-C2E7-775C-E873-A242F214F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955" y="2709481"/>
            <a:ext cx="9842090" cy="258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4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CAF0-4F0E-15D2-EC7A-E349F3F22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0847A0-F773-4330-359E-838A4DD0B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Calculation (contd.,)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7FC21A-1B28-EA24-7973-DE623A519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045D4-816D-5CDA-5C2E-184F52C1F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145" y="1515759"/>
            <a:ext cx="906970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7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98BF5-9357-1138-2601-EC1EB5D1C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7B44A5-7266-3142-B47A-D2E749A9C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 sample power calculation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3C0017-E5B7-6ED9-6080-E906F6D98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Aim 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Aim 2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FC502-9AEA-E2E5-6CC0-1FBA61423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1656"/>
            <a:ext cx="12192000" cy="15185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A03403-1185-0368-71B0-069258460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2840"/>
            <a:ext cx="12192000" cy="21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73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282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Project 2  Analysis and Sample Size Calculation for a Grant Application:  Relationship between inflammation, AD pathology and Cognitive decline</vt:lpstr>
      <vt:lpstr>Research Aims and Hypothesis</vt:lpstr>
      <vt:lpstr>Data (expected) Overview</vt:lpstr>
      <vt:lpstr>Analysis Plan</vt:lpstr>
      <vt:lpstr>Power Calculation</vt:lpstr>
      <vt:lpstr>Power Calculation (contd.,)</vt:lpstr>
      <vt:lpstr>Appendix: sample power calculation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Jegede, Opeyemi</dc:creator>
  <cp:lastModifiedBy>Jegede, Opeyemi</cp:lastModifiedBy>
  <cp:revision>15</cp:revision>
  <dcterms:created xsi:type="dcterms:W3CDTF">2026-03-30T13:00:05Z</dcterms:created>
  <dcterms:modified xsi:type="dcterms:W3CDTF">2026-03-30T13:56:40Z</dcterms:modified>
</cp:coreProperties>
</file>