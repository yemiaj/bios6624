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8" y="2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1FDB-5806-7005-682A-E6EA1F256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DF8F0-EEA4-6770-6399-BA0FFF1DA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C8D03-737F-2017-786B-4A4923D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EE42E-53CC-322B-8566-A51854FC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868E4-79FD-8B61-1598-548E6650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0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8881-079B-9F9C-4C4F-2741EC01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31E9-5040-8869-7A49-FF1FF4CC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A7AA3-AECB-FCEE-4482-627679A0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8B75C-C3F6-5947-5E50-83F014A4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DC0B7-BB26-84D8-D9A7-7C5348E5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1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379B-5D36-2CD8-1D40-EF25F670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7042B-3DEE-436F-AC45-3FAA94BF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8ADCB-FCB7-75A1-C5CC-21C44BF9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6A53-38C0-E6EB-BAD6-0E04AC25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9A3B-EA47-381C-7703-F8301B56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4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294B-2760-06F1-48B4-457E5E2F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76DCF-0D2E-A476-CA45-031354145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E4774-292C-6261-AD3E-03D35BC0E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133CA-76F1-7464-172A-8F18411A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EA994-1C0F-72F8-FF5F-355F2B25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D1D2E-A23A-685B-EC33-B6DBAF37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D39A-138F-D552-2651-8AE32DE6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66588-D876-D8D0-3252-F4E659A6E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88785-A6EE-EF6A-3864-5D41AA236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5D7A-4174-A722-1720-FCC9DD13C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521C1-3FBE-510E-E300-65298FFD2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033E6-207A-ADC1-5B66-DAA12A67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62821-62E2-9504-A140-C3C405F4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5BCBB-8F9E-92BA-E907-0CE3044C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8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83D4-B789-480D-4F74-EDD4CAA5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865E5-31BA-306E-66BA-41EE7396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C1AE1-088B-0059-2C53-3FC11375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A6740-8E02-5B3F-D35C-1B229C3E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8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39388-41E0-F7F3-DB0E-54EDCBA1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E6DE8-01E6-8F1F-1D75-4EFB0ED4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D02D1-F387-C218-523F-C8B88DB2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7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EC6D-6EC0-54FF-CD54-3B95AE8A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2539-A042-55E6-9E41-DA4D536F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36E13-C9C8-1BF8-1190-D489C97E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50DC2-9E89-CE3C-6A4B-E262CA9A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CB19E-3A9C-C404-47DA-A21C6CC2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327A-B534-AE78-1DFF-70D5FB88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1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75D1-B0F7-9E00-81BD-9937B40D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4A4B4-D8E4-9F93-1359-7455C2893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89FA6-1C96-FD6B-6296-8E2BA40B8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88401-3266-3F67-20FE-5098AE53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996F3-6E71-9BCE-C90E-A64685AC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F5EE2-A084-EE98-08C6-859BB49D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F14E-0982-5A0C-4553-9F2ACCD7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8618B-F08D-173D-29CA-D3780FB64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DD2AD-5366-78E3-A814-67D69B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35F58-BE93-19B4-2810-286ED591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87D8-1C2C-7C46-9A41-BEDE026C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0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C240B-596E-D2C5-FBED-7F1D84D82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C6E7-EF7E-1444-0EB3-25DD2F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D9D6-E59C-A483-7EE2-BAFBF51A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A83DA-C369-E4FB-6AAB-03419652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BE40-10F0-A374-7F88-EDD2627A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3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BE46A-94C8-7271-A639-B6133103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E789-ABAF-AA45-CECF-086610A86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83BE-A5F4-5D9E-93E3-DD2222139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85901-F0CE-42D8-A8F6-D93BE25B957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B3C9-B5C3-DC93-A332-2167F8F49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4931-5E67-67A8-F6A5-851AB84BA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0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41C8-A910-5491-089E-47B384A2D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367" y="2343523"/>
            <a:ext cx="10461266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Framingham Heart Study: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Risk Factors and Probability of Stroke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EF605-AFCC-B057-E67A-3D502B455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430" y="5202238"/>
            <a:ext cx="9144000" cy="1655762"/>
          </a:xfrm>
        </p:spPr>
        <p:txBody>
          <a:bodyPr/>
          <a:lstStyle/>
          <a:p>
            <a:r>
              <a:rPr lang="en-US" dirty="0"/>
              <a:t>Name: Opeyemi (Yemi) Jegede</a:t>
            </a:r>
          </a:p>
          <a:p>
            <a:r>
              <a:rPr lang="en-US" dirty="0"/>
              <a:t>Date: 04/22/2026</a:t>
            </a:r>
          </a:p>
        </p:txBody>
      </p:sp>
    </p:spTree>
    <p:extLst>
      <p:ext uri="{BB962C8B-B14F-4D97-AF65-F5344CB8AC3E}">
        <p14:creationId xmlns:p14="http://schemas.microsoft.com/office/powerpoint/2010/main" val="137038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22E1-60E6-3A9F-5CA0-484F066B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AFF6-7570-1827-3B5B-23A5105B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8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Primary Objective</a:t>
            </a:r>
          </a:p>
          <a:p>
            <a:pPr lvl="1"/>
            <a:r>
              <a:rPr lang="en-US" dirty="0"/>
              <a:t>Assess risk factors (measured at baseline) associated with developing stroke</a:t>
            </a:r>
          </a:p>
          <a:p>
            <a:pPr lvl="2"/>
            <a:r>
              <a:rPr lang="en-US" dirty="0"/>
              <a:t>Risk factors from a pool of select variables</a:t>
            </a:r>
          </a:p>
          <a:p>
            <a:pPr lvl="2"/>
            <a:r>
              <a:rPr lang="en-US" dirty="0"/>
              <a:t>Separate analysis for men vs women</a:t>
            </a:r>
          </a:p>
          <a:p>
            <a:pPr lvl="1"/>
            <a:r>
              <a:rPr lang="en-US" dirty="0"/>
              <a:t>Estimate 10-year probabilities of developing stroke for different risk profiles</a:t>
            </a:r>
          </a:p>
          <a:p>
            <a:r>
              <a:rPr lang="en-US" dirty="0"/>
              <a:t>Secondary Objective</a:t>
            </a:r>
          </a:p>
          <a:p>
            <a:pPr lvl="1"/>
            <a:r>
              <a:rPr lang="en-US" dirty="0"/>
              <a:t>Describe time-varying changes in diabetes and systolic blood pressure (BP)</a:t>
            </a:r>
          </a:p>
          <a:p>
            <a:pPr lvl="1"/>
            <a:endParaRPr lang="en-US" dirty="0"/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Outcomes: Time to stroke (defined from study entry)</a:t>
            </a:r>
          </a:p>
          <a:p>
            <a:pPr lvl="1"/>
            <a:r>
              <a:rPr lang="en-US" dirty="0"/>
              <a:t>Main predictors: Age, diabetes status, systolic BP (mmHg)</a:t>
            </a:r>
          </a:p>
          <a:p>
            <a:pPr lvl="1"/>
            <a:r>
              <a:rPr lang="en-US" dirty="0"/>
              <a:t>Additional predictors: </a:t>
            </a:r>
            <a:r>
              <a:rPr lang="en-US" u="sng" dirty="0"/>
              <a:t>use of anti-hypertensive meds</a:t>
            </a:r>
            <a:r>
              <a:rPr lang="en-US" dirty="0"/>
              <a:t>, </a:t>
            </a:r>
            <a:r>
              <a:rPr lang="en-US" u="sng" dirty="0"/>
              <a:t>prevalent coronary heart disease (CHD)</a:t>
            </a:r>
            <a:r>
              <a:rPr lang="en-US" dirty="0"/>
              <a:t>, </a:t>
            </a:r>
            <a:r>
              <a:rPr lang="en-US" u="sng" dirty="0"/>
              <a:t>current cigarette smoking status</a:t>
            </a:r>
            <a:r>
              <a:rPr lang="en-US" dirty="0"/>
              <a:t>, </a:t>
            </a:r>
            <a:r>
              <a:rPr lang="en-US" u="sng" dirty="0"/>
              <a:t>serum total cholesterol (mg/dL)</a:t>
            </a:r>
            <a:r>
              <a:rPr lang="en-US" dirty="0"/>
              <a:t>, and </a:t>
            </a:r>
            <a:r>
              <a:rPr lang="en-US" u="sng" dirty="0"/>
              <a:t>body mass index (kg/m</a:t>
            </a:r>
            <a:r>
              <a:rPr lang="en-US" u="sng" baseline="30000" dirty="0"/>
              <a:t>2</a:t>
            </a:r>
            <a:r>
              <a:rPr lang="en-US" u="sng" dirty="0"/>
              <a:t>)</a:t>
            </a:r>
          </a:p>
          <a:p>
            <a:pPr lvl="1"/>
            <a:r>
              <a:rPr lang="en-US" dirty="0"/>
              <a:t>Identifiers: Participant ID, Sex, follow-up period</a:t>
            </a:r>
          </a:p>
        </p:txBody>
      </p:sp>
    </p:spTree>
    <p:extLst>
      <p:ext uri="{BB962C8B-B14F-4D97-AF65-F5344CB8AC3E}">
        <p14:creationId xmlns:p14="http://schemas.microsoft.com/office/powerpoint/2010/main" val="310567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3630-0647-E090-9625-8E13DEBC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50C8-1B96-EA0B-E10E-F6C15CC7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3D9C-5DDB-F9CB-A69F-324118EF0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671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/>
              <a:t>In total, 11672 observations representing 4434 unique participants</a:t>
            </a:r>
          </a:p>
          <a:p>
            <a:pPr lvl="1"/>
            <a:r>
              <a:rPr lang="en-US" sz="1800" dirty="0"/>
              <a:t>Exclusions</a:t>
            </a:r>
          </a:p>
          <a:p>
            <a:pPr lvl="2"/>
            <a:r>
              <a:rPr lang="en-US" sz="1600" dirty="0"/>
              <a:t>32 unique (60 observations with prevalent stroke at baseline)</a:t>
            </a:r>
          </a:p>
          <a:p>
            <a:pPr lvl="1"/>
            <a:r>
              <a:rPr lang="en-US" sz="1800" dirty="0"/>
              <a:t>Recoding</a:t>
            </a:r>
          </a:p>
          <a:p>
            <a:pPr lvl="2"/>
            <a:r>
              <a:rPr lang="en-US" sz="1600" dirty="0"/>
              <a:t>7 unique participants with time to stroke longer than time to death – time to stroke was recoded as time to death</a:t>
            </a:r>
          </a:p>
          <a:p>
            <a:pPr lvl="2"/>
            <a:endParaRPr lang="en-US" sz="1100" dirty="0"/>
          </a:p>
          <a:p>
            <a:r>
              <a:rPr lang="en-US" sz="2400" dirty="0"/>
              <a:t>Follow-up was restricted to 10-years of follow-up</a:t>
            </a:r>
          </a:p>
          <a:p>
            <a:pPr lvl="1"/>
            <a:r>
              <a:rPr lang="en-US" sz="1800" dirty="0"/>
              <a:t>383 (3.7%) stroke events before restricting follow-up, and 111 (2.5%) after restriction</a:t>
            </a:r>
          </a:p>
          <a:p>
            <a:pPr lvl="1"/>
            <a:endParaRPr lang="en-US" sz="1800" dirty="0"/>
          </a:p>
          <a:p>
            <a:r>
              <a:rPr lang="en-US" sz="2400" dirty="0"/>
              <a:t>After exclusion, there were 4402 unique participants</a:t>
            </a:r>
          </a:p>
          <a:p>
            <a:endParaRPr lang="en-US" sz="1800" dirty="0"/>
          </a:p>
          <a:p>
            <a:r>
              <a:rPr lang="en-US" sz="2400" dirty="0"/>
              <a:t>Analysis populations</a:t>
            </a:r>
          </a:p>
          <a:p>
            <a:pPr lvl="1"/>
            <a:r>
              <a:rPr lang="en-US" sz="1800" dirty="0"/>
              <a:t>Clean dataset (n=4402; 1930 men, 2472 women)</a:t>
            </a:r>
          </a:p>
          <a:p>
            <a:pPr lvl="1"/>
            <a:r>
              <a:rPr lang="en-US" sz="1800" dirty="0"/>
              <a:t>Model/variable selection dataset (n=4275; 1897 men, 2378 women)</a:t>
            </a:r>
          </a:p>
          <a:p>
            <a:pPr lvl="1"/>
            <a:r>
              <a:rPr lang="en-US" sz="1800" dirty="0"/>
              <a:t>Final dataset (n=4298; 1908 men, 2390 women)</a:t>
            </a:r>
          </a:p>
        </p:txBody>
      </p:sp>
    </p:spTree>
    <p:extLst>
      <p:ext uri="{BB962C8B-B14F-4D97-AF65-F5344CB8AC3E}">
        <p14:creationId xmlns:p14="http://schemas.microsoft.com/office/powerpoint/2010/main" val="13496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DBE6-7375-5E4C-C774-1BBE5310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B3EC-2EC4-A18B-0194-41DC1084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E7D7-905B-63F8-64AF-3804AFFBE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6"/>
            <a:ext cx="10515600" cy="53782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Primary objective: Risk factors associated with developing stroke</a:t>
            </a:r>
          </a:p>
          <a:p>
            <a:pPr lvl="1"/>
            <a:r>
              <a:rPr lang="en-US" dirty="0"/>
              <a:t>Univariable analysis using Kaplan-Meier plots, and </a:t>
            </a:r>
            <a:r>
              <a:rPr lang="en-US" dirty="0" err="1"/>
              <a:t>logrank</a:t>
            </a:r>
            <a:r>
              <a:rPr lang="en-US" dirty="0"/>
              <a:t> test to compare curves</a:t>
            </a:r>
          </a:p>
          <a:p>
            <a:pPr lvl="1"/>
            <a:r>
              <a:rPr lang="en-US" dirty="0"/>
              <a:t>Assessment of PH assumption based on Schoenfeld residual PH test</a:t>
            </a:r>
          </a:p>
          <a:p>
            <a:pPr lvl="1"/>
            <a:r>
              <a:rPr lang="en-US" dirty="0"/>
              <a:t>Model building, 2-step process</a:t>
            </a:r>
          </a:p>
          <a:p>
            <a:pPr lvl="2"/>
            <a:r>
              <a:rPr lang="en-US" dirty="0"/>
              <a:t>Backwards selection</a:t>
            </a:r>
          </a:p>
          <a:p>
            <a:pPr lvl="2"/>
            <a:r>
              <a:rPr lang="en-US" dirty="0"/>
              <a:t>Assessment of pairwise interaction with key predictors (age, diabetes, and high systolic BP)</a:t>
            </a:r>
          </a:p>
          <a:p>
            <a:pPr lvl="1"/>
            <a:r>
              <a:rPr lang="en-US" dirty="0"/>
              <a:t>10-year probability of stroke, and 95% CI, for different risk profiles</a:t>
            </a:r>
          </a:p>
          <a:p>
            <a:pPr lvl="2"/>
            <a:r>
              <a:rPr lang="en-US" dirty="0"/>
              <a:t>Estimated using the fitted Cox PH object, for each sex</a:t>
            </a:r>
          </a:p>
          <a:p>
            <a:endParaRPr lang="en-US" dirty="0"/>
          </a:p>
          <a:p>
            <a:r>
              <a:rPr lang="en-US" dirty="0"/>
              <a:t>Secondary objective: Characterize the change in diabetes and systolic BP over time</a:t>
            </a:r>
          </a:p>
          <a:p>
            <a:pPr lvl="1"/>
            <a:r>
              <a:rPr lang="en-US" dirty="0"/>
              <a:t>Transition probabilities: </a:t>
            </a:r>
          </a:p>
          <a:p>
            <a:pPr lvl="2"/>
            <a:r>
              <a:rPr lang="en-US" dirty="0"/>
              <a:t>Between states of positive and negative for diabetes and high systolic BP (≥160 mmHg)</a:t>
            </a:r>
          </a:p>
          <a:p>
            <a:pPr lvl="1"/>
            <a:r>
              <a:rPr lang="en-US" dirty="0"/>
              <a:t>Scatter plot</a:t>
            </a:r>
          </a:p>
          <a:p>
            <a:pPr lvl="2"/>
            <a:r>
              <a:rPr lang="en-US" dirty="0"/>
              <a:t>For continuous systolic BP only, plotting change against a reference timepoint</a:t>
            </a:r>
          </a:p>
        </p:txBody>
      </p:sp>
    </p:spTree>
    <p:extLst>
      <p:ext uri="{BB962C8B-B14F-4D97-AF65-F5344CB8AC3E}">
        <p14:creationId xmlns:p14="http://schemas.microsoft.com/office/powerpoint/2010/main" val="396559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EF36-73F3-2F18-71B4-9D290A93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EF18-29D0-5168-EB08-898762ED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87" y="-318653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23BA-76DF-10D4-7C01-B3771BA1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543376"/>
            <a:ext cx="10515600" cy="5172411"/>
          </a:xfrm>
        </p:spPr>
        <p:txBody>
          <a:bodyPr>
            <a:normAutofit/>
          </a:bodyPr>
          <a:lstStyle/>
          <a:p>
            <a:r>
              <a:rPr lang="en-US" sz="2000" dirty="0"/>
              <a:t>Kaplan-Meier and hazard plot of time to stroke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Primary objective: Predictors of stroke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A820E7-240D-A5AB-F8C7-70B27F3257B2}"/>
              </a:ext>
            </a:extLst>
          </p:cNvPr>
          <p:cNvSpPr/>
          <p:nvPr/>
        </p:nvSpPr>
        <p:spPr>
          <a:xfrm>
            <a:off x="7098889" y="344129"/>
            <a:ext cx="4517967" cy="557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10-year stroke probabilities by risk profile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F8E9D-2490-5586-C0E5-3F849F2F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5" y="4503900"/>
            <a:ext cx="5942873" cy="2295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38C1BB-D03F-87A0-A9EA-8B44B1814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1957"/>
            <a:ext cx="6321425" cy="291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268C63-5EA4-D973-1E6D-1C36E0B72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918" y="1006910"/>
            <a:ext cx="5630056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4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E9B8-66B0-80CA-251A-979CF447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4899-DDC4-007C-F762-E5E7C774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2816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40D4-BCA5-0A59-DC5E-01D34311F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638" y="447960"/>
            <a:ext cx="10515600" cy="5172411"/>
          </a:xfrm>
        </p:spPr>
        <p:txBody>
          <a:bodyPr/>
          <a:lstStyle/>
          <a:p>
            <a:r>
              <a:rPr lang="en-US" dirty="0"/>
              <a:t>Secondary Analysis: Characterization of change over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FC246F-CDC9-242E-9B08-38178C1C0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767" y="1347149"/>
            <a:ext cx="6418618" cy="54496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9C8749-DC86-8667-9645-48C926EC9A29}"/>
              </a:ext>
            </a:extLst>
          </p:cNvPr>
          <p:cNvSpPr/>
          <p:nvPr/>
        </p:nvSpPr>
        <p:spPr>
          <a:xfrm>
            <a:off x="40491" y="789321"/>
            <a:ext cx="5252511" cy="557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Diabetes &amp; high systolic BP transition probabilities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1355C6-860C-3A5D-2F67-0D973C676C0F}"/>
              </a:ext>
            </a:extLst>
          </p:cNvPr>
          <p:cNvSpPr/>
          <p:nvPr/>
        </p:nvSpPr>
        <p:spPr>
          <a:xfrm>
            <a:off x="5865508" y="789321"/>
            <a:ext cx="5252511" cy="557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Change in systolic BP between periods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459665-F7AC-7D09-3043-BC646C42B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5" y="1347149"/>
            <a:ext cx="5701584" cy="524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1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24C5-F501-D09B-02B9-92C974F7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14D-9D84-8FDB-C490-BB690AC7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D2BB-DF5B-B2F2-3979-77509954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638800"/>
          </a:xfrm>
        </p:spPr>
        <p:txBody>
          <a:bodyPr>
            <a:normAutofit/>
          </a:bodyPr>
          <a:lstStyle/>
          <a:p>
            <a:r>
              <a:rPr lang="en-US" dirty="0"/>
              <a:t>Primary Objective: Risk factors of stroke by sex</a:t>
            </a:r>
          </a:p>
          <a:p>
            <a:pPr lvl="1"/>
            <a:r>
              <a:rPr lang="en-US" dirty="0"/>
              <a:t>Four and 5 risk factors were identified for men and women respectively</a:t>
            </a:r>
          </a:p>
          <a:p>
            <a:pPr lvl="1"/>
            <a:r>
              <a:rPr lang="en-US" dirty="0"/>
              <a:t>The models have good discrimination, C-index = 0.795</a:t>
            </a:r>
          </a:p>
          <a:p>
            <a:pPr lvl="1"/>
            <a:r>
              <a:rPr lang="en-US" dirty="0"/>
              <a:t>There was an interaction between risk factors that lowers risk of stroke</a:t>
            </a:r>
          </a:p>
          <a:p>
            <a:r>
              <a:rPr lang="en-US" dirty="0"/>
              <a:t>Secondary objective: Characterization of change over time</a:t>
            </a:r>
          </a:p>
          <a:p>
            <a:pPr lvl="1"/>
            <a:r>
              <a:rPr lang="en-US" dirty="0"/>
              <a:t>There was a shift towards increasing proportion of diabetes status</a:t>
            </a:r>
          </a:p>
          <a:p>
            <a:pPr lvl="1"/>
            <a:r>
              <a:rPr lang="en-US" dirty="0"/>
              <a:t>Participants with low BP saw increase in BP between successive timepoints</a:t>
            </a:r>
          </a:p>
          <a:p>
            <a:pPr lvl="1"/>
            <a:r>
              <a:rPr lang="en-US" dirty="0"/>
              <a:t>The prevalence of high BP and diabetes status increased over time. A time-varying analysis is warranted.</a:t>
            </a:r>
          </a:p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The frequency of stroke events is low (2.5%); this limits the model complexity</a:t>
            </a:r>
          </a:p>
          <a:p>
            <a:pPr lvl="1"/>
            <a:r>
              <a:rPr lang="en-US" dirty="0"/>
              <a:t>There was a substantial reduction in follow-up from baseline to period 3</a:t>
            </a:r>
          </a:p>
        </p:txBody>
      </p:sp>
    </p:spTree>
    <p:extLst>
      <p:ext uri="{BB962C8B-B14F-4D97-AF65-F5344CB8AC3E}">
        <p14:creationId xmlns:p14="http://schemas.microsoft.com/office/powerpoint/2010/main" val="3554664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563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Project 3  Framingham Heart Study:  Risk Factors and Probability of Stroke</vt:lpstr>
      <vt:lpstr>Research Question</vt:lpstr>
      <vt:lpstr>Data Overview</vt:lpstr>
      <vt:lpstr>Analysis</vt:lpstr>
      <vt:lpstr>Results</vt:lpstr>
      <vt:lpstr>Results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Jegede, Opeyemi</dc:creator>
  <cp:lastModifiedBy>Jegede, Opeyemi</cp:lastModifiedBy>
  <cp:revision>27</cp:revision>
  <dcterms:created xsi:type="dcterms:W3CDTF">2026-02-04T15:59:40Z</dcterms:created>
  <dcterms:modified xsi:type="dcterms:W3CDTF">2026-04-22T17:45:09Z</dcterms:modified>
</cp:coreProperties>
</file>