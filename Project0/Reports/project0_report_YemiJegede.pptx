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9" d="100"/>
          <a:sy n="49" d="100"/>
        </p:scale>
        <p:origin x="396" y="1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11FDB-5806-7005-682A-E6EA1F256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DDF8F0-EEA4-6770-6399-BA0FFF1DA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C8D03-737F-2017-786B-4A4923D88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5901-F0CE-42D8-A8F6-D93BE25B9571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EE42E-53CC-322B-8566-A51854FC1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868E4-79FD-8B61-1598-548E66504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A5AD3-3E8C-4171-A0A6-42336EA52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301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C8881-079B-9F9C-4C4F-2741EC015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131E9-5040-8869-7A49-FF1FF4CC2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A7AA3-AECB-FCEE-4482-627679A0A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5901-F0CE-42D8-A8F6-D93BE25B9571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8B75C-C3F6-5947-5E50-83F014A46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DC0B7-BB26-84D8-D9A7-7C5348E57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A5AD3-3E8C-4171-A0A6-42336EA52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217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F379B-5D36-2CD8-1D40-EF25F6708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47042B-3DEE-436F-AC45-3FAA94BF0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8ADCB-FCB7-75A1-C5CC-21C44BF9B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5901-F0CE-42D8-A8F6-D93BE25B9571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76A53-38C0-E6EB-BAD6-0E04AC252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F9A3B-EA47-381C-7703-F8301B566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A5AD3-3E8C-4171-A0A6-42336EA52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94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2294B-2760-06F1-48B4-457E5E2FB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76DCF-0D2E-A476-CA45-0313541452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E4774-292C-6261-AD3E-03D35BC0EB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133CA-76F1-7464-172A-8F18411AA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5901-F0CE-42D8-A8F6-D93BE25B9571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EA994-1C0F-72F8-FF5F-355F2B25D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CD1D2E-A23A-685B-EC33-B6DBAF375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A5AD3-3E8C-4171-A0A6-42336EA52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382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1D39A-138F-D552-2651-8AE32DE69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66588-D876-D8D0-3252-F4E659A6E5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88785-A6EE-EF6A-3864-5D41AA2368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E5D7A-4174-A722-1720-FCC9DD13C6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A521C1-3FBE-510E-E300-65298FFD2F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2033E6-207A-ADC1-5B66-DAA12A67E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5901-F0CE-42D8-A8F6-D93BE25B9571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362821-62E2-9504-A140-C3C405F41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15BCBB-8F9E-92BA-E907-0CE3044C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A5AD3-3E8C-4171-A0A6-42336EA52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084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83D4-B789-480D-4F74-EDD4CAA50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A865E5-31BA-306E-66BA-41EE7396E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5901-F0CE-42D8-A8F6-D93BE25B9571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4C1AE1-088B-0059-2C53-3FC11375F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8A6740-8E02-5B3F-D35C-1B229C3E5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A5AD3-3E8C-4171-A0A6-42336EA52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980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639388-41E0-F7F3-DB0E-54EDCBA12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5901-F0CE-42D8-A8F6-D93BE25B9571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8E6DE8-01E6-8F1F-1D75-4EFB0ED45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D02D1-F387-C218-523F-C8B88DB27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A5AD3-3E8C-4171-A0A6-42336EA52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671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AEC6D-6EC0-54FF-CD54-3B95AE8A7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A2539-A042-55E6-9E41-DA4D536FD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936E13-C9C8-1BF8-1190-D489C97EA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550DC2-9E89-CE3C-6A4B-E262CA9A7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5901-F0CE-42D8-A8F6-D93BE25B9571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7CB19E-3A9C-C404-47DA-A21C6CC25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2A327A-B534-AE78-1DFF-70D5FB88D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A5AD3-3E8C-4171-A0A6-42336EA52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610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175D1-B0F7-9E00-81BD-9937B40DC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E4A4B4-D8E4-9F93-1359-7455C28930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589FA6-1C96-FD6B-6296-8E2BA40B8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088401-3266-3F67-20FE-5098AE538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5901-F0CE-42D8-A8F6-D93BE25B9571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D996F3-6E71-9BCE-C90E-A64685AC3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F5EE2-A084-EE98-08C6-859BB49D1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A5AD3-3E8C-4171-A0A6-42336EA52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42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0F14E-0982-5A0C-4553-9F2ACCD7B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8618B-F08D-173D-29CA-D3780FB64A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DD2AD-5366-78E3-A814-67D69B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5901-F0CE-42D8-A8F6-D93BE25B9571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35F58-BE93-19B4-2810-286ED591F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087D8-1C2C-7C46-9A41-BEDE026C7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A5AD3-3E8C-4171-A0A6-42336EA52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603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6C240B-596E-D2C5-FBED-7F1D84D822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64C6E7-EF7E-1444-0EB3-25DD2FC261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3D9D6-E59C-A483-7EE2-BAFBF51AB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5901-F0CE-42D8-A8F6-D93BE25B9571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A83DA-C369-E4FB-6AAB-03419652B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FBE40-10F0-A374-7F88-EDD2627A9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A5AD3-3E8C-4171-A0A6-42336EA52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34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5BE46A-94C8-7271-A639-B61331033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AE789-ABAF-AA45-CECF-086610A86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183BE-A5F4-5D9E-93E3-DD22221396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D85901-F0CE-42D8-A8F6-D93BE25B9571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2B3C9-B5C3-DC93-A332-2167F8F49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A4931-5E67-67A8-F6A5-851AB84BA8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7A5AD3-3E8C-4171-A0A6-42336EA52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503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141C8-A910-5491-089E-47B384A2D9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0</a:t>
            </a:r>
            <a:br>
              <a:rPr lang="en-US" dirty="0"/>
            </a:br>
            <a:r>
              <a:rPr lang="en-US" dirty="0"/>
              <a:t>The Diurnal Pattern of Cortisol &amp; DHEA Hormones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EF605-AFCC-B057-E67A-3D502B4550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Name: Opeyemi (Yemi) Jegede</a:t>
            </a:r>
          </a:p>
          <a:p>
            <a:r>
              <a:rPr lang="en-US" dirty="0"/>
              <a:t>Date: 02/04/2026</a:t>
            </a:r>
          </a:p>
        </p:txBody>
      </p:sp>
    </p:spTree>
    <p:extLst>
      <p:ext uri="{BB962C8B-B14F-4D97-AF65-F5344CB8AC3E}">
        <p14:creationId xmlns:p14="http://schemas.microsoft.com/office/powerpoint/2010/main" val="1370381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122E1-60E6-3A9F-5CA0-484F066B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6AFF6-7570-1827-3B5B-23A5105BA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Q1: Is there a relationship between saliva sample collection time reported in the booklet vs captured electronically?</a:t>
            </a:r>
          </a:p>
          <a:p>
            <a:pPr lvl="1"/>
            <a:r>
              <a:rPr lang="en-US" dirty="0"/>
              <a:t>Hypothesis: No relationship vs some relationship between both times</a:t>
            </a:r>
          </a:p>
          <a:p>
            <a:endParaRPr lang="en-US" dirty="0"/>
          </a:p>
          <a:p>
            <a:r>
              <a:rPr lang="en-US" dirty="0"/>
              <a:t>Q2: What is the adherence rate to sample collection at 30 and 600 minutes after waking up</a:t>
            </a:r>
          </a:p>
          <a:p>
            <a:pPr lvl="1"/>
            <a:r>
              <a:rPr lang="en-US" dirty="0"/>
              <a:t>Descriptive analysis of adherence rates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Q3: For cortisol and DHEA, Is there an increase in hormonal levels between waking and 30 minutes, and what is the rate of decline beyond 30 minutes</a:t>
            </a:r>
          </a:p>
          <a:p>
            <a:pPr lvl="1"/>
            <a:r>
              <a:rPr lang="en-US" dirty="0"/>
              <a:t>Hypothesis 1: The average hormonal level is similar at 30 minutes and baseline.</a:t>
            </a:r>
          </a:p>
          <a:p>
            <a:pPr lvl="1"/>
            <a:r>
              <a:rPr lang="en-US" dirty="0"/>
              <a:t>Hypothesis 2: Hormonal levels remain the same beyond 30 minutes after waking</a:t>
            </a:r>
          </a:p>
        </p:txBody>
      </p:sp>
    </p:spTree>
    <p:extLst>
      <p:ext uri="{BB962C8B-B14F-4D97-AF65-F5344CB8AC3E}">
        <p14:creationId xmlns:p14="http://schemas.microsoft.com/office/powerpoint/2010/main" val="3105676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E3630-0647-E090-9625-8E13DEBC9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450C8-1B96-EA0B-E10E-F6C15CC71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33D9C-5DDB-F9CB-A69F-324118EF0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Thirty-one (31) healthy controls; samples at 4 time points daily; 3 days. This represents 372 observations; no exclusions.</a:t>
            </a:r>
          </a:p>
          <a:p>
            <a:endParaRPr lang="en-US" dirty="0"/>
          </a:p>
          <a:p>
            <a:r>
              <a:rPr lang="en-US" dirty="0"/>
              <a:t>Based on the (right) skew distribution of these markers, they were log transformed for analysis.</a:t>
            </a:r>
          </a:p>
          <a:p>
            <a:endParaRPr lang="en-US" dirty="0"/>
          </a:p>
          <a:p>
            <a:r>
              <a:rPr lang="en-US" dirty="0"/>
              <a:t>Box plots for graphical display of distribution, means/SD for location/spread, and frequency/proportion for categorical variables</a:t>
            </a:r>
          </a:p>
        </p:txBody>
      </p:sp>
    </p:spTree>
    <p:extLst>
      <p:ext uri="{BB962C8B-B14F-4D97-AF65-F5344CB8AC3E}">
        <p14:creationId xmlns:p14="http://schemas.microsoft.com/office/powerpoint/2010/main" val="134965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6DBE6-7375-5E4C-C774-1BBE53104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FB3EC-2EC4-A18B-0194-41DC1084B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7E7D7-905B-63F8-64AF-3804AFFBE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Q2: Adherence</a:t>
            </a:r>
          </a:p>
          <a:p>
            <a:pPr lvl="1"/>
            <a:r>
              <a:rPr lang="en-US" dirty="0"/>
              <a:t>A categorical variable grouping subjects into one of good (7.5 minutes), adequate (15 minutes), or poor (beyond 15 minutes) adherence was described using frequency/proportion, with 95% exact CI estimated.</a:t>
            </a:r>
          </a:p>
          <a:p>
            <a:r>
              <a:rPr lang="en-US" dirty="0"/>
              <a:t>Q1 &amp; Q3: Pattern, association, and rates</a:t>
            </a:r>
          </a:p>
          <a:p>
            <a:pPr lvl="1"/>
            <a:r>
              <a:rPr lang="en-US" dirty="0"/>
              <a:t>Univariable random-intercept linear mixed effect model was fitted</a:t>
            </a:r>
          </a:p>
          <a:p>
            <a:pPr lvl="1"/>
            <a:r>
              <a:rPr lang="en-US" dirty="0"/>
              <a:t>Q1: inference based on the t-test statistic for intercept and slope</a:t>
            </a:r>
          </a:p>
          <a:p>
            <a:pPr lvl="1"/>
            <a:r>
              <a:rPr lang="en-US" dirty="0"/>
              <a:t>Q2: Piecewise linear model with change point at 30-minutes</a:t>
            </a:r>
          </a:p>
          <a:p>
            <a:pPr lvl="2"/>
            <a:r>
              <a:rPr lang="en-US" dirty="0"/>
              <a:t>Expected hormonal level at 30 minutes vs waking, using a contrast and Wald test</a:t>
            </a:r>
          </a:p>
          <a:p>
            <a:pPr lvl="2"/>
            <a:r>
              <a:rPr lang="en-US" dirty="0"/>
              <a:t>Rate of decline after 30 minutes based on t-test statistic for the coefficient</a:t>
            </a:r>
          </a:p>
        </p:txBody>
      </p:sp>
    </p:spTree>
    <p:extLst>
      <p:ext uri="{BB962C8B-B14F-4D97-AF65-F5344CB8AC3E}">
        <p14:creationId xmlns:p14="http://schemas.microsoft.com/office/powerpoint/2010/main" val="3965598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AEF36-73F3-2F18-71B4-9D290A934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6EF18-29D0-5168-EB08-898762EDB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423BA-76DF-10D4-7C01-B3771BA19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Q1: Pattern and association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Q2: Adherence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00E5C3-C3FD-B7EB-D830-344DD1BAA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496" y="2217680"/>
            <a:ext cx="8634171" cy="24226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715F9A-1CDD-95D5-74D1-32BCFB767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238" y="4525951"/>
            <a:ext cx="5975874" cy="233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842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A41B7-246F-DA74-2680-7DEB8FA14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DAA6A-E278-659F-DE99-9F7EEB56A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A7258-13C5-97C7-B636-034CAACEA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Q3: Changes in salivary cortisol and DHEA overtime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F9FE37-2A72-6AB0-CE2A-115A027E7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825" y="2522614"/>
            <a:ext cx="10549349" cy="3654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285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F24C5-F501-D09B-02B9-92C974F7E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4C14D-9D84-8FDB-C490-BB690AC75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9D2BB-DF5B-B2F2-3979-775099543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Q1: Pattern and association</a:t>
            </a:r>
          </a:p>
          <a:p>
            <a:pPr lvl="1"/>
            <a:r>
              <a:rPr lang="en-US" dirty="0"/>
              <a:t>There was significant bias between both sample collection times</a:t>
            </a:r>
          </a:p>
          <a:p>
            <a:pPr lvl="1"/>
            <a:r>
              <a:rPr lang="en-US" dirty="0"/>
              <a:t>There is a significant and strong linear relationship between both collection times</a:t>
            </a:r>
          </a:p>
          <a:p>
            <a:r>
              <a:rPr lang="en-US" dirty="0"/>
              <a:t>Q2: Adherence</a:t>
            </a:r>
          </a:p>
          <a:p>
            <a:pPr lvl="1"/>
            <a:r>
              <a:rPr lang="en-US" dirty="0"/>
              <a:t>A higher proportion of subjects had Good adherence at 30 minutes compared to 600 minutes, and vice versa for Poor adherence category</a:t>
            </a:r>
          </a:p>
          <a:p>
            <a:r>
              <a:rPr lang="en-US" dirty="0"/>
              <a:t>Q3: Changes in salivary cortisol and DHEA overtime</a:t>
            </a:r>
          </a:p>
          <a:p>
            <a:pPr lvl="1"/>
            <a:r>
              <a:rPr lang="en-US" dirty="0"/>
              <a:t>The increase in cortisol at 30 minutes compared to waking was not significant, nor was the rate of decline. </a:t>
            </a:r>
          </a:p>
          <a:p>
            <a:pPr lvl="1"/>
            <a:r>
              <a:rPr lang="en-US" dirty="0"/>
              <a:t>The (diurnal) pattern of DHEA was </a:t>
            </a:r>
            <a:r>
              <a:rPr lang="en-US"/>
              <a:t>significant but </a:t>
            </a:r>
            <a:r>
              <a:rPr lang="en-US" dirty="0"/>
              <a:t>opposite of what was expected.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664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435</Words>
  <Application>Microsoft Office PowerPoint</Application>
  <PresentationFormat>Widescreen</PresentationFormat>
  <Paragraphs>47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Project 0 The Diurnal Pattern of Cortisol &amp; DHEA Hormones</vt:lpstr>
      <vt:lpstr>Research Question</vt:lpstr>
      <vt:lpstr>Data Overview</vt:lpstr>
      <vt:lpstr>Analysis</vt:lpstr>
      <vt:lpstr>Results</vt:lpstr>
      <vt:lpstr>Results (cont’d)</vt:lpstr>
      <vt:lpstr>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Jegede, Opeyemi</dc:creator>
  <cp:lastModifiedBy>Jegede, Opeyemi</cp:lastModifiedBy>
  <cp:revision>8</cp:revision>
  <dcterms:created xsi:type="dcterms:W3CDTF">2026-02-04T15:59:40Z</dcterms:created>
  <dcterms:modified xsi:type="dcterms:W3CDTF">2026-02-04T18:35:40Z</dcterms:modified>
</cp:coreProperties>
</file>